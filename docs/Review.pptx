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2" r:id="rId16"/>
    <p:sldId id="273" r:id="rId17"/>
    <p:sldId id="275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105" d="100"/>
          <a:sy n="105" d="100"/>
        </p:scale>
        <p:origin x="798" y="2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476439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713232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 sz="2000" b="1">
                <a:solidFill>
                  <a:srgbClr val="1B2A2E"/>
                </a:solidFill>
                <a:latin typeface="Cambria"/>
              </a:defRPr>
            </a:pPr>
            <a:r>
              <a:rPr sz="2000" b="1">
                <a:solidFill>
                  <a:srgbClr val="1B2A2E"/>
                </a:solidFill>
                <a:latin typeface="Cambria"/>
              </a:rPr>
              <a:t>Equipment Health &amp; Maintenance Monitor (Predictive RUL)</a:t>
            </a:r>
          </a:p>
        </p:txBody>
      </p:sp>
      <p:sp>
        <p:nvSpPr>
          <p:cNvPr id="4" name="Shape 2"/>
          <p:cNvSpPr/>
          <p:nvPr/>
        </p:nvSpPr>
        <p:spPr>
          <a:xfrm>
            <a:off x="1097280" y="1371600"/>
            <a:ext cx="10607040" cy="0"/>
          </a:xfrm>
          <a:prstGeom prst="line">
            <a:avLst/>
          </a:prstGeom>
          <a:noFill/>
          <a:ln w="12700">
            <a:solidFill>
              <a:srgbClr val="D7E7E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98144" y="1700059"/>
            <a:ext cx="5029200" cy="3713907"/>
          </a:xfrm>
          <a:prstGeom prst="roundRect">
            <a:avLst>
              <a:gd name="adj" fmla="val 1778"/>
            </a:avLst>
          </a:prstGeom>
          <a:solidFill>
            <a:srgbClr val="02809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371600" y="2130643"/>
            <a:ext cx="4572000" cy="28149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 algn="l">
              <a:spcAft>
                <a:spcPts val="800"/>
              </a:spcAft>
              <a:buSzPct val="100000"/>
              <a:buChar char="▪"/>
              <a:defRPr sz="1100" b="0">
                <a:solidFill>
                  <a:srgbClr val="FFFFFF"/>
                </a:solidFill>
                <a:latin typeface="Calibri"/>
              </a:defRPr>
            </a:pPr>
            <a:r>
              <a:rPr sz="1100" b="0">
                <a:solidFill>
                  <a:srgbClr val="FFFFFF"/>
                </a:solidFill>
                <a:latin typeface="Calibri"/>
              </a:rPr>
              <a:t>Manufacturing Downtime Costs &amp; Condition-Based Maintenance</a:t>
            </a:r>
            <a:endParaRPr lang="en-US" sz="1400" dirty="0"/>
          </a:p>
          <a:p>
            <a:pPr marL="342900" indent="-342900" algn="l">
              <a:spcAft>
                <a:spcPts val="800"/>
              </a:spcAft>
              <a:buSzPct val="100000"/>
              <a:buChar char="▪"/>
              <a:defRPr sz="1100" b="0">
                <a:solidFill>
                  <a:srgbClr val="FFFFFF"/>
                </a:solidFill>
                <a:latin typeface="Calibri"/>
              </a:defRPr>
            </a:pPr>
            <a:r>
              <a:rPr sz="1100" b="0">
                <a:solidFill>
                  <a:srgbClr val="FFFFFF"/>
                </a:solidFill>
                <a:latin typeface="Calibri"/>
              </a:rPr>
              <a:t>Functional Requirements: Vibration RMS Telemetry, RUL Forecasting &amp; ISO Limits</a:t>
            </a:r>
            <a:endParaRPr lang="en-US" sz="1400" dirty="0"/>
          </a:p>
          <a:p>
            <a:pPr marL="342900" indent="-342900" algn="l">
              <a:spcAft>
                <a:spcPts val="800"/>
              </a:spcAft>
              <a:buSzPct val="100000"/>
              <a:buChar char="▪"/>
              <a:defRPr sz="1100" b="0">
                <a:solidFill>
                  <a:srgbClr val="FFFFFF"/>
                </a:solidFill>
                <a:latin typeface="Calibri"/>
              </a:defRPr>
            </a:pPr>
            <a:r>
              <a:rPr sz="1100" b="0">
                <a:solidFill>
                  <a:srgbClr val="FFFFFF"/>
                </a:solidFill>
                <a:latin typeface="Calibri"/>
              </a:rPr>
              <a:t>System Architecture: 3s Telemetry Simulator, WebSockets, React 18 &amp; MongoDB 6</a:t>
            </a:r>
            <a:endParaRPr lang="en-US" sz="1400" dirty="0"/>
          </a:p>
          <a:p>
            <a:pPr marL="342900" indent="-342900" algn="l">
              <a:spcAft>
                <a:spcPts val="800"/>
              </a:spcAft>
              <a:buSzPct val="100000"/>
              <a:buChar char="▪"/>
              <a:defRPr sz="1100" b="0">
                <a:solidFill>
                  <a:srgbClr val="FFFFFF"/>
                </a:solidFill>
                <a:latin typeface="Calibri"/>
              </a:defRPr>
            </a:pPr>
            <a:r>
              <a:rPr sz="1100" b="0">
                <a:solidFill>
                  <a:srgbClr val="FFFFFF"/>
                </a:solidFill>
                <a:latin typeface="Calibri"/>
              </a:rPr>
              <a:t>Operational Workflows: Reliability Engineers, Maintenance Crews &amp; Parts Kitting</a:t>
            </a:r>
            <a:endParaRPr lang="en-US" sz="1400" dirty="0"/>
          </a:p>
          <a:p>
            <a:pPr marL="342900" indent="-342900" algn="l">
              <a:spcAft>
                <a:spcPts val="800"/>
              </a:spcAft>
              <a:buSzPct val="100000"/>
              <a:buChar char="▪"/>
              <a:defRPr sz="1100" b="0">
                <a:solidFill>
                  <a:srgbClr val="FFFFFF"/>
                </a:solidFill>
                <a:latin typeface="Calibri"/>
              </a:defRPr>
            </a:pPr>
            <a:r>
              <a:rPr sz="1100" b="0">
                <a:solidFill>
                  <a:srgbClr val="FFFFFF"/>
                </a:solidFill>
                <a:latin typeface="Calibri"/>
              </a:rPr>
              <a:t>MongoDB Schemas: Machine Fleet, Time-Series Buffer, Anomaly Alerts &amp; Repairs</a:t>
            </a:r>
            <a:endParaRPr lang="en-US" sz="1400" dirty="0"/>
          </a:p>
          <a:p>
            <a:pPr marL="342900" indent="-342900" algn="l">
              <a:spcAft>
                <a:spcPts val="800"/>
              </a:spcAft>
              <a:buSzPct val="100000"/>
              <a:buChar char="▪"/>
              <a:defRPr sz="1100" b="0">
                <a:solidFill>
                  <a:srgbClr val="FFFFFF"/>
                </a:solidFill>
                <a:latin typeface="Calibri"/>
              </a:defRPr>
            </a:pPr>
            <a:r>
              <a:rPr sz="1100" b="0">
                <a:solidFill>
                  <a:srgbClr val="FFFFFF"/>
                </a:solidFill>
                <a:latin typeface="Calibri"/>
              </a:rPr>
              <a:t>Module Capabilities: Simulation Cockpit, Spline Wave Chart &amp; 1-Click Healing</a:t>
            </a:r>
            <a:endParaRPr lang="en-US" sz="1400" dirty="0"/>
          </a:p>
          <a:p>
            <a:pPr marL="342900" indent="-342900" algn="l">
              <a:spcAft>
                <a:spcPts val="800"/>
              </a:spcAft>
              <a:buSzPct val="100000"/>
              <a:buChar char="▪"/>
              <a:defRPr sz="1100" b="0">
                <a:solidFill>
                  <a:srgbClr val="FFFFFF"/>
                </a:solidFill>
                <a:latin typeface="Calibri"/>
              </a:defRPr>
            </a:pPr>
            <a:r>
              <a:rPr sz="1100" b="0">
                <a:solidFill>
                  <a:srgbClr val="FFFFFF"/>
                </a:solidFill>
                <a:latin typeface="Calibri"/>
              </a:rPr>
              <a:t>70% Phase 1 Milestone Verification, High-Res Screenshots &amp; Phase 2 Roadmap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6245352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defRPr sz="1000" b="0">
                <a:solidFill>
                  <a:srgbClr val="7A8F8C"/>
                </a:solidFill>
                <a:latin typeface="Calibri"/>
              </a:defRPr>
            </a:pPr>
            <a:r>
              <a:rPr sz="1000" b="0">
                <a:solidFill>
                  <a:srgbClr val="7A8F8C"/>
                </a:solidFill>
                <a:latin typeface="Calibri"/>
              </a:rPr>
              <a:t>Review 1 &amp; 2  |  Equipment Health &amp; Maintenance Monitor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57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713232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 sz="1800" b="1">
                <a:solidFill>
                  <a:srgbClr val="1B2A2E"/>
                </a:solidFill>
                <a:latin typeface="Cambria"/>
              </a:defRPr>
            </a:pPr>
            <a:r>
              <a:rPr sz="1800" b="1">
                <a:solidFill>
                  <a:srgbClr val="1B2A2E"/>
                </a:solidFill>
                <a:latin typeface="Cambria"/>
              </a:rPr>
              <a:t>Functional &amp; Non-Functional Engineering Requirements</a:t>
            </a:r>
          </a:p>
        </p:txBody>
      </p:sp>
      <p:sp>
        <p:nvSpPr>
          <p:cNvPr id="6" name="Shape 4"/>
          <p:cNvSpPr/>
          <p:nvPr/>
        </p:nvSpPr>
        <p:spPr>
          <a:xfrm>
            <a:off x="1097280" y="1371600"/>
            <a:ext cx="10607040" cy="0"/>
          </a:xfrm>
          <a:prstGeom prst="line">
            <a:avLst/>
          </a:prstGeom>
          <a:noFill/>
          <a:ln w="12700">
            <a:solidFill>
              <a:srgbClr val="D7E7E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97280" y="1737360"/>
            <a:ext cx="5029200" cy="4114800"/>
          </a:xfrm>
          <a:prstGeom prst="roundRect">
            <a:avLst>
              <a:gd name="adj" fmla="val 1778"/>
            </a:avLst>
          </a:prstGeom>
          <a:solidFill>
            <a:srgbClr val="F4FAF9"/>
          </a:solidFill>
          <a:ln w="12700">
            <a:solidFill>
              <a:srgbClr val="D7E7E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371600" y="19202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>
                <a:latin typeface="Cambria"/>
              </a:defRPr>
            </a:pPr>
            <a:r>
              <a:t>Functional Predictive Maintenance Requirements</a:t>
            </a:r>
          </a:p>
        </p:txBody>
      </p:sp>
      <p:sp>
        <p:nvSpPr>
          <p:cNvPr id="9" name="Text 7"/>
          <p:cNvSpPr txBox="1"/>
          <p:nvPr/>
        </p:nvSpPr>
        <p:spPr>
          <a:xfrm>
            <a:off x="1371600" y="2423160"/>
            <a:ext cx="45720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 algn="l">
              <a:spcAft>
                <a:spcPts val="400"/>
              </a:spcAft>
              <a:buSzPct val="100000"/>
              <a:buChar char="▪"/>
              <a:defRPr sz="1000" b="0">
                <a:solidFill>
                  <a:srgbClr val="1B2A2E"/>
                </a:solidFill>
                <a:latin typeface="Calibri"/>
              </a:defRPr>
            </a:pPr>
            <a:r>
              <a:rPr sz="1000" b="0">
                <a:solidFill>
                  <a:srgbClr val="1B2A2E"/>
                </a:solidFill>
                <a:latin typeface="Calibri"/>
              </a:rPr>
              <a:t>Continuous 3s vibration RMS (mm/s) &amp; high-frequency bearing peak-G streaming.</a:t>
            </a:r>
            <a:endParaRPr lang="en-US" sz="1350" dirty="0"/>
          </a:p>
          <a:p>
            <a:pPr marL="342900" indent="-342900" algn="l">
              <a:spcAft>
                <a:spcPts val="400"/>
              </a:spcAft>
              <a:buSzPct val="100000"/>
              <a:buChar char="▪"/>
              <a:defRPr sz="1000" b="0">
                <a:solidFill>
                  <a:srgbClr val="1B2A2E"/>
                </a:solidFill>
                <a:latin typeface="Calibri"/>
              </a:defRPr>
            </a:pPr>
            <a:r>
              <a:rPr sz="1000" b="0">
                <a:solidFill>
                  <a:srgbClr val="1B2A2E"/>
                </a:solidFill>
                <a:latin typeface="Calibri"/>
              </a:rPr>
              <a:t>Remaining Useful Life (RUL) countdown with 95% confidence intervals [min - max hours].</a:t>
            </a:r>
            <a:endParaRPr lang="en-US" sz="1350" dirty="0"/>
          </a:p>
          <a:p>
            <a:pPr marL="342900" indent="-342900" algn="l">
              <a:spcAft>
                <a:spcPts val="400"/>
              </a:spcAft>
              <a:buSzPct val="100000"/>
              <a:buChar char="▪"/>
              <a:defRPr sz="1000" b="0">
                <a:solidFill>
                  <a:srgbClr val="1B2A2E"/>
                </a:solidFill>
                <a:latin typeface="Calibri"/>
              </a:defRPr>
            </a:pPr>
            <a:r>
              <a:rPr sz="1000" b="0">
                <a:solidFill>
                  <a:srgbClr val="1B2A2E"/>
                </a:solidFill>
                <a:latin typeface="Calibri"/>
              </a:rPr>
              <a:t>Explainable anomaly alerts with sensor contribution attribution (SHAP-style XAI).</a:t>
            </a:r>
            <a:endParaRPr lang="en-US" sz="1350" dirty="0"/>
          </a:p>
          <a:p>
            <a:pPr marL="342900" indent="-342900" algn="l">
              <a:spcAft>
                <a:spcPts val="400"/>
              </a:spcAft>
              <a:buSzPct val="100000"/>
              <a:buChar char="▪"/>
              <a:defRPr sz="1000" b="0">
                <a:solidFill>
                  <a:srgbClr val="1B2A2E"/>
                </a:solidFill>
                <a:latin typeface="Calibri"/>
              </a:defRPr>
            </a:pPr>
            <a:r>
              <a:rPr sz="1000" b="0">
                <a:solidFill>
                  <a:srgbClr val="1B2A2E"/>
                </a:solidFill>
                <a:latin typeface="Calibri"/>
              </a:rPr>
              <a:t>Schedule Equipment Repair with machine-specific parts kitting &amp; technician crew dispatch.</a:t>
            </a:r>
            <a:endParaRPr lang="en-US" sz="1350" dirty="0"/>
          </a:p>
          <a:p>
            <a:pPr marL="342900" indent="-342900" algn="l">
              <a:spcAft>
                <a:spcPts val="400"/>
              </a:spcAft>
              <a:buSzPct val="100000"/>
              <a:buChar char="▪"/>
              <a:defRPr sz="1000" b="0">
                <a:solidFill>
                  <a:srgbClr val="1B2A2E"/>
                </a:solidFill>
                <a:latin typeface="Calibri"/>
              </a:defRPr>
            </a:pPr>
            <a:r>
              <a:rPr sz="1000" b="0">
                <a:solidFill>
                  <a:srgbClr val="1B2A2E"/>
                </a:solidFill>
                <a:latin typeface="Calibri"/>
              </a:rPr>
              <a:t>1-Click alert healing restoring healthy nominal baselines (1.8 mm/s, 96% health).</a:t>
            </a:r>
            <a:endParaRPr lang="en-US" sz="1350" dirty="0"/>
          </a:p>
          <a:p>
            <a:pPr marL="342900" indent="-342900" algn="l">
              <a:spcAft>
                <a:spcPts val="400"/>
              </a:spcAft>
              <a:buSzPct val="100000"/>
              <a:buChar char="▪"/>
              <a:defRPr sz="1000" b="0">
                <a:solidFill>
                  <a:srgbClr val="1B2A2E"/>
                </a:solidFill>
                <a:latin typeface="Calibri"/>
              </a:defRPr>
            </a:pPr>
            <a:r>
              <a:rPr sz="1000" b="0">
                <a:solidFill>
                  <a:srgbClr val="1B2A2E"/>
                </a:solidFill>
                <a:latin typeface="Calibri"/>
              </a:rPr>
              <a:t>Real-time WebSocket alerting updating fleet rosters and KPI cards without page reload.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400800" y="1737360"/>
            <a:ext cx="5029200" cy="4114800"/>
          </a:xfrm>
          <a:prstGeom prst="roundRect">
            <a:avLst>
              <a:gd name="adj" fmla="val 1778"/>
            </a:avLst>
          </a:prstGeom>
          <a:solidFill>
            <a:srgbClr val="F4FAF9"/>
          </a:solidFill>
          <a:ln w="12700">
            <a:solidFill>
              <a:srgbClr val="D7E7E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675120" y="19202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>
                <a:latin typeface="Cambria"/>
              </a:defRPr>
            </a:pPr>
            <a:r>
              <a:t>Non-Functional &amp; Reliability Standards</a:t>
            </a:r>
          </a:p>
        </p:txBody>
      </p:sp>
      <p:sp>
        <p:nvSpPr>
          <p:cNvPr id="12" name="Text 10"/>
          <p:cNvSpPr txBox="1"/>
          <p:nvPr/>
        </p:nvSpPr>
        <p:spPr>
          <a:xfrm>
            <a:off x="6675120" y="2423160"/>
            <a:ext cx="45720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 algn="l">
              <a:spcAft>
                <a:spcPts val="400"/>
              </a:spcAft>
              <a:buSzPct val="100000"/>
              <a:buChar char="▪"/>
              <a:defRPr sz="1000" b="0">
                <a:solidFill>
                  <a:srgbClr val="1B2A2E"/>
                </a:solidFill>
                <a:latin typeface="Calibri"/>
              </a:defRPr>
            </a:pPr>
            <a:r>
              <a:rPr sz="1000" b="0">
                <a:solidFill>
                  <a:srgbClr val="1B2A2E"/>
                </a:solidFill>
                <a:latin typeface="Calibri"/>
              </a:rPr>
              <a:t>ISO 10816 / 20816: Mechanical vibration velocity trip limits strictly enforced (4.5 mm/s).</a:t>
            </a:r>
            <a:endParaRPr lang="en-US" sz="1350" dirty="0"/>
          </a:p>
          <a:p>
            <a:pPr marL="342900" indent="-342900" algn="l">
              <a:spcAft>
                <a:spcPts val="400"/>
              </a:spcAft>
              <a:buSzPct val="100000"/>
              <a:buChar char="▪"/>
              <a:defRPr sz="1000" b="0">
                <a:solidFill>
                  <a:srgbClr val="1B2A2E"/>
                </a:solidFill>
                <a:latin typeface="Calibri"/>
              </a:defRPr>
            </a:pPr>
            <a:r>
              <a:rPr sz="1000" b="0">
                <a:solidFill>
                  <a:srgbClr val="1B2A2E"/>
                </a:solidFill>
                <a:latin typeface="Calibri"/>
              </a:rPr>
              <a:t>Real-Time Reactivity: Sub-50ms WebSocket telemetry broadcast across connected clients.</a:t>
            </a:r>
            <a:endParaRPr lang="en-US" sz="1350" dirty="0"/>
          </a:p>
          <a:p>
            <a:pPr marL="342900" indent="-342900" algn="l">
              <a:spcAft>
                <a:spcPts val="400"/>
              </a:spcAft>
              <a:buSzPct val="100000"/>
              <a:buChar char="▪"/>
              <a:defRPr sz="1000" b="0">
                <a:solidFill>
                  <a:srgbClr val="1B2A2E"/>
                </a:solidFill>
                <a:latin typeface="Calibri"/>
              </a:defRPr>
            </a:pPr>
            <a:r>
              <a:rPr sz="1000" b="0">
                <a:solidFill>
                  <a:srgbClr val="1B2A2E"/>
                </a:solidFill>
                <a:latin typeface="Calibri"/>
              </a:rPr>
              <a:t>High-Write Telemetry Buffer: 25-point rolling window with compound indexing.</a:t>
            </a:r>
            <a:endParaRPr lang="en-US" sz="1350" dirty="0"/>
          </a:p>
          <a:p>
            <a:pPr marL="342900" indent="-342900" algn="l">
              <a:spcAft>
                <a:spcPts val="400"/>
              </a:spcAft>
              <a:buSzPct val="100000"/>
              <a:buChar char="▪"/>
              <a:defRPr sz="1000" b="0">
                <a:solidFill>
                  <a:srgbClr val="1B2A2E"/>
                </a:solidFill>
                <a:latin typeface="Calibri"/>
              </a:defRPr>
            </a:pPr>
            <a:r>
              <a:rPr sz="1000" b="0">
                <a:solidFill>
                  <a:srgbClr val="1B2A2E"/>
                </a:solidFill>
                <a:latin typeface="Calibri"/>
              </a:rPr>
              <a:t>Layout Resiliency: flex-shrink: 0 applied to panels preventing vertical compression.</a:t>
            </a:r>
            <a:endParaRPr lang="en-US" sz="1350" dirty="0"/>
          </a:p>
          <a:p>
            <a:pPr marL="342900" indent="-342900" algn="l">
              <a:spcAft>
                <a:spcPts val="400"/>
              </a:spcAft>
              <a:buSzPct val="100000"/>
              <a:buChar char="▪"/>
              <a:defRPr sz="1000" b="0">
                <a:solidFill>
                  <a:srgbClr val="1B2A2E"/>
                </a:solidFill>
                <a:latin typeface="Calibri"/>
              </a:defRPr>
            </a:pPr>
            <a:r>
              <a:rPr sz="1000" b="0">
                <a:solidFill>
                  <a:srgbClr val="1B2A2E"/>
                </a:solidFill>
                <a:latin typeface="Calibri"/>
              </a:rPr>
              <a:t>Zero-Setup Deployment: 3-tier containerized stack orchestrated via Docker Compose.</a:t>
            </a:r>
            <a:endParaRPr lang="en-US" sz="1350" dirty="0"/>
          </a:p>
          <a:p>
            <a:pPr marL="342900" indent="-342900" algn="l">
              <a:spcAft>
                <a:spcPts val="400"/>
              </a:spcAft>
              <a:buSzPct val="100000"/>
              <a:buChar char="▪"/>
              <a:defRPr sz="1000" b="0">
                <a:solidFill>
                  <a:srgbClr val="1B2A2E"/>
                </a:solidFill>
                <a:latin typeface="Calibri"/>
              </a:defRPr>
            </a:pPr>
            <a:r>
              <a:rPr sz="1000" b="0">
                <a:solidFill>
                  <a:srgbClr val="1B2A2E"/>
                </a:solidFill>
                <a:latin typeface="Calibri"/>
              </a:rPr>
              <a:t>Automated Verification: Playwright Core test suite driving local Google Chrome.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6245352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defRPr sz="1000" b="0">
                <a:solidFill>
                  <a:srgbClr val="7A8F8C"/>
                </a:solidFill>
                <a:latin typeface="Calibri"/>
              </a:defRPr>
            </a:pPr>
            <a:r>
              <a:rPr sz="1000" b="0">
                <a:solidFill>
                  <a:srgbClr val="7A8F8C"/>
                </a:solidFill>
                <a:latin typeface="Calibri"/>
              </a:rPr>
              <a:t>Review 1 &amp; 2  |  Equipment Health &amp; Maintenance Monitor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57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713232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 sz="1800" b="1">
                <a:solidFill>
                  <a:srgbClr val="1B2A2E"/>
                </a:solidFill>
                <a:latin typeface="Cambria"/>
              </a:defRPr>
            </a:pPr>
            <a:r>
              <a:rPr sz="1800" b="1">
                <a:solidFill>
                  <a:srgbClr val="1B2A2E"/>
                </a:solidFill>
                <a:latin typeface="Cambria"/>
              </a:rPr>
              <a:t>System Architecture: Condition Monitoring MERN</a:t>
            </a:r>
          </a:p>
        </p:txBody>
      </p:sp>
      <p:sp>
        <p:nvSpPr>
          <p:cNvPr id="6" name="Shape 4"/>
          <p:cNvSpPr/>
          <p:nvPr/>
        </p:nvSpPr>
        <p:spPr>
          <a:xfrm>
            <a:off x="1097280" y="1371600"/>
            <a:ext cx="10607040" cy="0"/>
          </a:xfrm>
          <a:prstGeom prst="line">
            <a:avLst/>
          </a:prstGeom>
          <a:noFill/>
          <a:ln w="12700">
            <a:solidFill>
              <a:srgbClr val="D7E7E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97280" y="2377440"/>
            <a:ext cx="3017520" cy="1828800"/>
          </a:xfrm>
          <a:prstGeom prst="roundRect">
            <a:avLst>
              <a:gd name="adj" fmla="val 5000"/>
            </a:avLst>
          </a:prstGeom>
          <a:solidFill>
            <a:srgbClr val="00A89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280160" y="26060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 b="1">
                <a:solidFill>
                  <a:srgbClr val="FFFFFF"/>
                </a:solidFill>
                <a:latin typeface="Cambria"/>
              </a:defRPr>
            </a:pPr>
            <a:r>
              <a:t>CLIENT TIER</a:t>
            </a:r>
          </a:p>
        </p:txBody>
      </p:sp>
      <p:sp>
        <p:nvSpPr>
          <p:cNvPr id="9" name="Text 7"/>
          <p:cNvSpPr txBox="1"/>
          <p:nvPr/>
        </p:nvSpPr>
        <p:spPr>
          <a:xfrm>
            <a:off x="1280160" y="3063240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400"/>
              </a:spcAft>
              <a:buNone/>
              <a:defRPr sz="900" b="0">
                <a:solidFill>
                  <a:srgbClr val="FFFFFF"/>
                </a:solidFill>
                <a:latin typeface="Calibri"/>
              </a:defRPr>
            </a:pPr>
            <a:r>
              <a:rPr sz="900" b="0">
                <a:solidFill>
                  <a:srgbClr val="FFFFFF"/>
                </a:solidFill>
                <a:latin typeface="Calibri"/>
              </a:rPr>
              <a:t>React 18 + Vite SPA</a:t>
            </a:r>
            <a:endParaRPr lang="en-US" sz="1150" dirty="0"/>
          </a:p>
          <a:p>
            <a:pPr marL="0" indent="0" algn="l">
              <a:spcAft>
                <a:spcPts val="400"/>
              </a:spcAft>
              <a:buNone/>
              <a:defRPr sz="900" b="0">
                <a:solidFill>
                  <a:srgbClr val="FFFFFF"/>
                </a:solidFill>
                <a:latin typeface="Calibri"/>
              </a:defRPr>
            </a:pPr>
            <a:r>
              <a:rPr sz="900" b="0">
                <a:solidFill>
                  <a:srgbClr val="FFFFFF"/>
                </a:solidFill>
                <a:latin typeface="Calibri"/>
              </a:rPr>
              <a:t>Custom SVG Spline Engine</a:t>
            </a:r>
            <a:endParaRPr lang="en-US" sz="1150" dirty="0"/>
          </a:p>
          <a:p>
            <a:pPr algn="l">
              <a:spcAft>
                <a:spcPts val="400"/>
              </a:spcAft>
              <a:buNone/>
              <a:defRPr sz="900" b="0">
                <a:solidFill>
                  <a:srgbClr val="FFFFFF"/>
                </a:solidFill>
                <a:latin typeface="Calibri"/>
              </a:defRPr>
            </a:pPr>
            <a:r>
              <a:rPr sz="900" b="0">
                <a:solidFill>
                  <a:srgbClr val="FFFFFF"/>
                </a:solidFill>
                <a:latin typeface="Calibri"/>
              </a:rPr>
              <a:t>Simulation Cockpit Bar</a:t>
            </a:r>
          </a:p>
          <a:p>
            <a:pPr algn="l">
              <a:spcAft>
                <a:spcPts val="400"/>
              </a:spcAft>
              <a:buNone/>
              <a:defRPr sz="900" b="0">
                <a:solidFill>
                  <a:srgbClr val="FFFFFF"/>
                </a:solidFill>
                <a:latin typeface="Calibri"/>
              </a:defRPr>
            </a:pPr>
            <a:r>
              <a:rPr sz="900" b="0">
                <a:solidFill>
                  <a:srgbClr val="FFFFFF"/>
                </a:solidFill>
                <a:latin typeface="Calibri"/>
              </a:rPr>
              <a:t>Bento Grid (STRATIS Style)</a:t>
            </a:r>
          </a:p>
        </p:txBody>
      </p:sp>
      <p:sp>
        <p:nvSpPr>
          <p:cNvPr id="10" name="Text 8"/>
          <p:cNvSpPr txBox="1"/>
          <p:nvPr/>
        </p:nvSpPr>
        <p:spPr>
          <a:xfrm>
            <a:off x="4114800" y="301752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⇄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4617720" y="2377440"/>
            <a:ext cx="3017520" cy="1828800"/>
          </a:xfrm>
          <a:prstGeom prst="roundRect">
            <a:avLst>
              <a:gd name="adj" fmla="val 5000"/>
            </a:avLst>
          </a:prstGeom>
          <a:solidFill>
            <a:srgbClr val="028090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800600" y="26060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 b="1">
                <a:solidFill>
                  <a:srgbClr val="FFFFFF"/>
                </a:solidFill>
                <a:latin typeface="Cambria"/>
              </a:defRPr>
            </a:pPr>
            <a:r>
              <a:t>APPLICATION TIER</a:t>
            </a:r>
          </a:p>
        </p:txBody>
      </p:sp>
      <p:sp>
        <p:nvSpPr>
          <p:cNvPr id="13" name="Text 11"/>
          <p:cNvSpPr txBox="1"/>
          <p:nvPr/>
        </p:nvSpPr>
        <p:spPr>
          <a:xfrm>
            <a:off x="4800600" y="3063240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400"/>
              </a:spcAft>
              <a:buNone/>
              <a:defRPr sz="900" b="0">
                <a:solidFill>
                  <a:srgbClr val="FFFFFF"/>
                </a:solidFill>
                <a:latin typeface="Calibri"/>
              </a:defRPr>
            </a:pPr>
            <a:r>
              <a:rPr sz="900" b="0">
                <a:solidFill>
                  <a:srgbClr val="FFFFFF"/>
                </a:solidFill>
                <a:latin typeface="Calibri"/>
              </a:rPr>
              <a:t>Node.js + Express REST API</a:t>
            </a:r>
            <a:endParaRPr lang="en-US" sz="1150" dirty="0"/>
          </a:p>
          <a:p>
            <a:pPr marL="0" indent="0" algn="l">
              <a:spcAft>
                <a:spcPts val="400"/>
              </a:spcAft>
              <a:buNone/>
              <a:defRPr sz="900" b="0">
                <a:solidFill>
                  <a:srgbClr val="FFFFFF"/>
                </a:solidFill>
                <a:latin typeface="Calibri"/>
              </a:defRPr>
            </a:pPr>
            <a:r>
              <a:rPr sz="900" b="0">
                <a:solidFill>
                  <a:srgbClr val="FFFFFF"/>
                </a:solidFill>
                <a:latin typeface="Calibri"/>
              </a:rPr>
              <a:t>Socket.io Duplex WebSockets</a:t>
            </a:r>
            <a:endParaRPr lang="en-US" sz="1150" dirty="0"/>
          </a:p>
          <a:p>
            <a:pPr algn="l">
              <a:spcAft>
                <a:spcPts val="400"/>
              </a:spcAft>
              <a:buNone/>
              <a:defRPr sz="900" b="0">
                <a:solidFill>
                  <a:srgbClr val="FFFFFF"/>
                </a:solidFill>
                <a:latin typeface="Calibri"/>
              </a:defRPr>
            </a:pPr>
            <a:r>
              <a:rPr sz="900" b="0">
                <a:solidFill>
                  <a:srgbClr val="FFFFFF"/>
                </a:solidFill>
                <a:latin typeface="Calibri"/>
              </a:rPr>
              <a:t>3s Telemetry Heartbeat</a:t>
            </a:r>
          </a:p>
          <a:p>
            <a:pPr algn="l">
              <a:spcAft>
                <a:spcPts val="400"/>
              </a:spcAft>
              <a:buNone/>
              <a:defRPr sz="900" b="0">
                <a:solidFill>
                  <a:srgbClr val="FFFFFF"/>
                </a:solidFill>
                <a:latin typeface="Calibri"/>
              </a:defRPr>
            </a:pPr>
            <a:r>
              <a:rPr sz="900" b="0">
                <a:solidFill>
                  <a:srgbClr val="FFFFFF"/>
                </a:solidFill>
                <a:latin typeface="Calibri"/>
              </a:rPr>
              <a:t>1-Click Healing Controllers</a:t>
            </a:r>
          </a:p>
        </p:txBody>
      </p:sp>
      <p:sp>
        <p:nvSpPr>
          <p:cNvPr id="14" name="Text 12"/>
          <p:cNvSpPr txBox="1"/>
          <p:nvPr/>
        </p:nvSpPr>
        <p:spPr>
          <a:xfrm>
            <a:off x="7635240" y="301752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⇄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8138160" y="2377440"/>
            <a:ext cx="3017520" cy="1828800"/>
          </a:xfrm>
          <a:prstGeom prst="roundRect">
            <a:avLst>
              <a:gd name="adj" fmla="val 5000"/>
            </a:avLst>
          </a:prstGeom>
          <a:solidFill>
            <a:srgbClr val="1B2A2E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321040" y="26060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 b="1">
                <a:solidFill>
                  <a:srgbClr val="FFFFFF"/>
                </a:solidFill>
                <a:latin typeface="Cambria"/>
              </a:defRPr>
            </a:pPr>
            <a:r>
              <a:t>DATA TIER</a:t>
            </a:r>
          </a:p>
        </p:txBody>
      </p:sp>
      <p:sp>
        <p:nvSpPr>
          <p:cNvPr id="17" name="Text 15"/>
          <p:cNvSpPr txBox="1"/>
          <p:nvPr/>
        </p:nvSpPr>
        <p:spPr>
          <a:xfrm>
            <a:off x="8321040" y="3063240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400"/>
              </a:spcAft>
              <a:buNone/>
              <a:defRPr sz="900" b="0">
                <a:solidFill>
                  <a:srgbClr val="FFFFFF"/>
                </a:solidFill>
                <a:latin typeface="Calibri"/>
              </a:defRPr>
            </a:pPr>
            <a:r>
              <a:rPr sz="900" b="0">
                <a:solidFill>
                  <a:srgbClr val="FFFFFF"/>
                </a:solidFill>
                <a:latin typeface="Calibri"/>
              </a:rPr>
              <a:t>MongoDB 6 + Mongoose ODM</a:t>
            </a:r>
            <a:endParaRPr lang="en-US" sz="1150" dirty="0"/>
          </a:p>
          <a:p>
            <a:pPr marL="0" indent="0" algn="l">
              <a:spcAft>
                <a:spcPts val="400"/>
              </a:spcAft>
              <a:buNone/>
              <a:defRPr sz="900" b="0">
                <a:solidFill>
                  <a:srgbClr val="FFFFFF"/>
                </a:solidFill>
                <a:latin typeface="Calibri"/>
              </a:defRPr>
            </a:pPr>
            <a:r>
              <a:rPr sz="900" b="0">
                <a:solidFill>
                  <a:srgbClr val="FFFFFF"/>
                </a:solidFill>
                <a:latin typeface="Calibri"/>
              </a:rPr>
              <a:t>Industrial Machine Fleet</a:t>
            </a:r>
            <a:endParaRPr lang="en-US" sz="1150" dirty="0"/>
          </a:p>
          <a:p>
            <a:pPr algn="l">
              <a:spcAft>
                <a:spcPts val="400"/>
              </a:spcAft>
              <a:buNone/>
              <a:defRPr sz="900" b="0">
                <a:solidFill>
                  <a:srgbClr val="FFFFFF"/>
                </a:solidFill>
                <a:latin typeface="Calibri"/>
              </a:defRPr>
            </a:pPr>
            <a:r>
              <a:rPr sz="900" b="0">
                <a:solidFill>
                  <a:srgbClr val="FFFFFF"/>
                </a:solidFill>
                <a:latin typeface="Calibri"/>
              </a:rPr>
              <a:t>Time-Series Telemetry Buffer</a:t>
            </a:r>
          </a:p>
          <a:p>
            <a:pPr algn="l">
              <a:spcAft>
                <a:spcPts val="400"/>
              </a:spcAft>
              <a:buNone/>
              <a:defRPr sz="900" b="0">
                <a:solidFill>
                  <a:srgbClr val="FFFFFF"/>
                </a:solidFill>
                <a:latin typeface="Calibri"/>
              </a:defRPr>
            </a:pPr>
            <a:r>
              <a:rPr sz="900" b="0">
                <a:solidFill>
                  <a:srgbClr val="FFFFFF"/>
                </a:solidFill>
                <a:latin typeface="Calibri"/>
              </a:rPr>
              <a:t>Anomaly Alerts &amp; Repairs</a:t>
            </a:r>
          </a:p>
        </p:txBody>
      </p:sp>
      <p:sp>
        <p:nvSpPr>
          <p:cNvPr id="18" name="Text 16"/>
          <p:cNvSpPr txBox="1"/>
          <p:nvPr/>
        </p:nvSpPr>
        <p:spPr>
          <a:xfrm>
            <a:off x="1097280" y="4572000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Physical vibration and bearing shock stream over WebSockets every 3 seconds. Faults injected via Cockpit trigger instant state updates; 1-click resolution and repairs write restored baselines directly to MongoDB.</a:t>
            </a:r>
          </a:p>
        </p:txBody>
      </p:sp>
      <p:sp>
        <p:nvSpPr>
          <p:cNvPr id="19" name="Shape 17"/>
          <p:cNvSpPr/>
          <p:nvPr/>
        </p:nvSpPr>
        <p:spPr>
          <a:xfrm>
            <a:off x="1097280" y="5257800"/>
            <a:ext cx="9966960" cy="777240"/>
          </a:xfrm>
          <a:prstGeom prst="roundRect">
            <a:avLst>
              <a:gd name="adj" fmla="val 9412"/>
            </a:avLst>
          </a:prstGeom>
          <a:solidFill>
            <a:srgbClr val="F4FAF9"/>
          </a:solidFill>
          <a:ln w="12700">
            <a:solidFill>
              <a:srgbClr val="D7E7E5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325880" y="5257800"/>
            <a:ext cx="9509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Architectural Flow: Sensors -&gt; Simulator -&gt; Express -&gt; Socket.io -&gt; React Dashboard -&gt; 1-Click Resolve -&gt; MongoDB Baseline Healing.</a:t>
            </a:r>
          </a:p>
        </p:txBody>
      </p:sp>
      <p:sp>
        <p:nvSpPr>
          <p:cNvPr id="21" name="Text 19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6245352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defRPr sz="1000" b="0">
                <a:solidFill>
                  <a:srgbClr val="7A8F8C"/>
                </a:solidFill>
                <a:latin typeface="Calibri"/>
              </a:defRPr>
            </a:pPr>
            <a:r>
              <a:rPr sz="1000" b="0">
                <a:solidFill>
                  <a:srgbClr val="7A8F8C"/>
                </a:solidFill>
                <a:latin typeface="Calibri"/>
              </a:rPr>
              <a:t>Review 1 &amp; 2  |  Equipment Health &amp; Maintenance Monitor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57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713232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 sz="1800" b="1">
                <a:solidFill>
                  <a:srgbClr val="1B2A2E"/>
                </a:solidFill>
                <a:latin typeface="Cambria"/>
              </a:defRPr>
            </a:pPr>
            <a:r>
              <a:rPr sz="1800" b="1">
                <a:solidFill>
                  <a:srgbClr val="1B2A2E"/>
                </a:solidFill>
                <a:latin typeface="Cambria"/>
              </a:rPr>
              <a:t>Operational Use Cases &amp; Engineering Actor Workflows</a:t>
            </a:r>
          </a:p>
        </p:txBody>
      </p:sp>
      <p:sp>
        <p:nvSpPr>
          <p:cNvPr id="6" name="Shape 4"/>
          <p:cNvSpPr/>
          <p:nvPr/>
        </p:nvSpPr>
        <p:spPr>
          <a:xfrm>
            <a:off x="1097280" y="1371600"/>
            <a:ext cx="10607040" cy="0"/>
          </a:xfrm>
          <a:prstGeom prst="line">
            <a:avLst/>
          </a:prstGeom>
          <a:noFill/>
          <a:ln w="12700">
            <a:solidFill>
              <a:srgbClr val="D7E7E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97280" y="1737360"/>
            <a:ext cx="6035040" cy="4114800"/>
          </a:xfrm>
          <a:prstGeom prst="roundRect">
            <a:avLst>
              <a:gd name="adj" fmla="val 1778"/>
            </a:avLst>
          </a:prstGeom>
          <a:solidFill>
            <a:srgbClr val="F4FAF9"/>
          </a:solidFill>
          <a:ln w="19050">
            <a:solidFill>
              <a:srgbClr val="00A896"/>
            </a:solidFill>
            <a:prstDash val="dash"/>
          </a:ln>
        </p:spPr>
      </p:sp>
      <p:sp>
        <p:nvSpPr>
          <p:cNvPr id="8" name="Text 6"/>
          <p:cNvSpPr txBox="1"/>
          <p:nvPr/>
        </p:nvSpPr>
        <p:spPr>
          <a:xfrm>
            <a:off x="1280160" y="3474720"/>
            <a:ext cx="5669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400"/>
              </a:spcAft>
              <a:buNone/>
              <a:defRPr sz="950" b="0">
                <a:solidFill>
                  <a:srgbClr val="1B2A2E"/>
                </a:solidFill>
                <a:latin typeface="Calibri"/>
              </a:defRPr>
            </a:pPr>
            <a:r>
              <a:rPr sz="950" b="0">
                <a:solidFill>
                  <a:srgbClr val="1B2A2E"/>
                </a:solidFill>
                <a:latin typeface="Calibri"/>
              </a:rPr>
              <a:t>Reliability &amp; Condition Monitoring Engineer:</a:t>
            </a:r>
            <a:endParaRPr lang="en-US" sz="1400" dirty="0"/>
          </a:p>
          <a:p>
            <a:pPr marL="0" indent="0" algn="l">
              <a:spcAft>
                <a:spcPts val="400"/>
              </a:spcAft>
              <a:buNone/>
              <a:defRPr sz="950" b="0">
                <a:solidFill>
                  <a:srgbClr val="1B2A2E"/>
                </a:solidFill>
                <a:latin typeface="Calibri"/>
              </a:defRPr>
            </a:pPr>
            <a:r>
              <a:rPr sz="950" b="0">
                <a:solidFill>
                  <a:srgbClr val="1B2A2E"/>
                </a:solidFill>
                <a:latin typeface="Calibri"/>
              </a:rPr>
              <a:t>  - Tracks vibration RMS waveforms against ISO 10816 Zone D trip limits.</a:t>
            </a:r>
            <a:endParaRPr lang="en-US" sz="1400" dirty="0"/>
          </a:p>
          <a:p>
            <a:pPr algn="l">
              <a:spcAft>
                <a:spcPts val="400"/>
              </a:spcAft>
              <a:buNone/>
              <a:defRPr sz="950" b="0">
                <a:solidFill>
                  <a:srgbClr val="1B2A2E"/>
                </a:solidFill>
                <a:latin typeface="Calibri"/>
              </a:defRPr>
            </a:pPr>
            <a:r>
              <a:rPr sz="950" b="0">
                <a:solidFill>
                  <a:srgbClr val="1B2A2E"/>
                </a:solidFill>
                <a:latin typeface="Calibri"/>
              </a:rPr>
              <a:t>  - Monitors RUL degradation curves (operating hours to breakdown).</a:t>
            </a:r>
          </a:p>
          <a:p>
            <a:pPr algn="l">
              <a:spcAft>
                <a:spcPts val="400"/>
              </a:spcAft>
              <a:buNone/>
              <a:defRPr sz="950" b="0">
                <a:solidFill>
                  <a:srgbClr val="1B2A2E"/>
                </a:solidFill>
                <a:latin typeface="Calibri"/>
              </a:defRPr>
            </a:pPr>
            <a:r>
              <a:rPr sz="950" b="0">
                <a:solidFill>
                  <a:srgbClr val="1B2A2E"/>
                </a:solidFill>
                <a:latin typeface="Calibri"/>
              </a:rPr>
              <a:t>  - Analyzes root-cause explainability sensor contributions (bearing crest, temperature, acoustic emission).</a:t>
            </a:r>
          </a:p>
          <a:p>
            <a:pPr algn="l">
              <a:spcAft>
                <a:spcPts val="400"/>
              </a:spcAft>
              <a:buNone/>
              <a:defRPr sz="950" b="0">
                <a:solidFill>
                  <a:srgbClr val="1B2A2E"/>
                </a:solidFill>
                <a:latin typeface="Calibri"/>
              </a:defRPr>
            </a:pPr>
            <a:r>
              <a:rPr sz="950" b="0">
                <a:solidFill>
                  <a:srgbClr val="1B2A2E"/>
                </a:solidFill>
                <a:latin typeface="Calibri"/>
              </a:rPr>
              <a:t>  - Injects simulated plant scenarios to test emergency operational procedures.</a:t>
            </a:r>
          </a:p>
          <a:p>
            <a:pPr algn="l">
              <a:spcAft>
                <a:spcPts val="400"/>
              </a:spcAft>
              <a:buNone/>
              <a:defRPr sz="950" b="0">
                <a:solidFill>
                  <a:srgbClr val="1B2A2E"/>
                </a:solidFill>
                <a:latin typeface="Calibri"/>
              </a:defRPr>
            </a:pPr>
          </a:p>
          <a:p>
            <a:pPr algn="l">
              <a:spcAft>
                <a:spcPts val="400"/>
              </a:spcAft>
              <a:buNone/>
              <a:defRPr sz="950" b="0">
                <a:solidFill>
                  <a:srgbClr val="1B2A2E"/>
                </a:solidFill>
                <a:latin typeface="Calibri"/>
              </a:defRPr>
            </a:pPr>
            <a:r>
              <a:rPr sz="950" b="0">
                <a:solidFill>
                  <a:srgbClr val="1B2A2E"/>
                </a:solidFill>
                <a:latin typeface="Calibri"/>
              </a:rPr>
              <a:t>Maintenance Supervisor &amp; Field Repair Crew:</a:t>
            </a:r>
          </a:p>
          <a:p>
            <a:pPr algn="l">
              <a:spcAft>
                <a:spcPts val="400"/>
              </a:spcAft>
              <a:buNone/>
              <a:defRPr sz="950" b="0">
                <a:solidFill>
                  <a:srgbClr val="1B2A2E"/>
                </a:solidFill>
                <a:latin typeface="Calibri"/>
              </a:defRPr>
            </a:pPr>
            <a:r>
              <a:rPr sz="950" b="0">
                <a:solidFill>
                  <a:srgbClr val="1B2A2E"/>
                </a:solidFill>
                <a:latin typeface="Calibri"/>
              </a:rPr>
              <a:t>  - Receives automatic equipment alert notifications with severity ratings.</a:t>
            </a:r>
          </a:p>
          <a:p>
            <a:pPr algn="l">
              <a:spcAft>
                <a:spcPts val="400"/>
              </a:spcAft>
              <a:buNone/>
              <a:defRPr sz="950" b="0">
                <a:solidFill>
                  <a:srgbClr val="1B2A2E"/>
                </a:solidFill>
                <a:latin typeface="Calibri"/>
              </a:defRPr>
            </a:pPr>
            <a:r>
              <a:rPr sz="950" b="0">
                <a:solidFill>
                  <a:srgbClr val="1B2A2E"/>
                </a:solidFill>
                <a:latin typeface="Calibri"/>
              </a:rPr>
              <a:t>  - Schedules precision repairs with pre-configured OEM parts kits (bearings, seals).</a:t>
            </a:r>
          </a:p>
          <a:p>
            <a:pPr algn="l">
              <a:spcAft>
                <a:spcPts val="400"/>
              </a:spcAft>
              <a:buNone/>
              <a:defRPr sz="950" b="0">
                <a:solidFill>
                  <a:srgbClr val="1B2A2E"/>
                </a:solidFill>
                <a:latin typeface="Calibri"/>
              </a:defRPr>
            </a:pPr>
            <a:r>
              <a:rPr sz="950" b="0">
                <a:solidFill>
                  <a:srgbClr val="1B2A2E"/>
                </a:solidFill>
                <a:latin typeface="Calibri"/>
              </a:rPr>
              <a:t>  - Executes work orders and signs off completion, automatically restoring machine health to 98%.</a:t>
            </a:r>
          </a:p>
        </p:txBody>
      </p:sp>
      <p:sp>
        <p:nvSpPr>
          <p:cNvPr id="9" name="Shape 7"/>
          <p:cNvSpPr/>
          <p:nvPr/>
        </p:nvSpPr>
        <p:spPr>
          <a:xfrm>
            <a:off x="7406640" y="1737360"/>
            <a:ext cx="3657600" cy="41148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7E7E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635240" y="19202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Maintenance Flow</a:t>
            </a:r>
          </a:p>
        </p:txBody>
      </p:sp>
      <p:sp>
        <p:nvSpPr>
          <p:cNvPr id="11" name="Text 9"/>
          <p:cNvSpPr txBox="1"/>
          <p:nvPr/>
        </p:nvSpPr>
        <p:spPr>
          <a:xfrm>
            <a:off x="7635240" y="2331720"/>
            <a:ext cx="32004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 algn="l">
              <a:spcAft>
                <a:spcPts val="400"/>
              </a:spcAft>
              <a:buSzPct val="100000"/>
              <a:buChar char="▪"/>
              <a:defRPr sz="900" b="0">
                <a:solidFill>
                  <a:srgbClr val="1B2A2E"/>
                </a:solidFill>
                <a:latin typeface="Calibri"/>
              </a:defRPr>
            </a:pPr>
            <a:r>
              <a:rPr sz="900" b="0">
                <a:solidFill>
                  <a:srgbClr val="1B2A2E"/>
                </a:solidFill>
                <a:latin typeface="Calibri"/>
              </a:rPr>
              <a:t>1. 3s Sensor stream monitoring</a:t>
            </a:r>
            <a:endParaRPr lang="en-US" sz="1200" dirty="0"/>
          </a:p>
          <a:p>
            <a:pPr marL="342900" indent="-342900" algn="l">
              <a:spcAft>
                <a:spcPts val="400"/>
              </a:spcAft>
              <a:buSzPct val="100000"/>
              <a:buChar char="▪"/>
              <a:defRPr sz="900" b="0">
                <a:solidFill>
                  <a:srgbClr val="1B2A2E"/>
                </a:solidFill>
                <a:latin typeface="Calibri"/>
              </a:defRPr>
            </a:pPr>
            <a:r>
              <a:rPr sz="900" b="0">
                <a:solidFill>
                  <a:srgbClr val="1B2A2E"/>
                </a:solidFill>
                <a:latin typeface="Calibri"/>
              </a:rPr>
              <a:t>2. Vibration or Peak-G spike trips alert</a:t>
            </a:r>
            <a:endParaRPr lang="en-US" sz="1200" dirty="0"/>
          </a:p>
          <a:p>
            <a:pPr marL="342900" indent="-342900" algn="l">
              <a:spcAft>
                <a:spcPts val="400"/>
              </a:spcAft>
              <a:buSzPct val="100000"/>
              <a:buChar char="▪"/>
              <a:defRPr sz="900" b="0">
                <a:solidFill>
                  <a:srgbClr val="1B2A2E"/>
                </a:solidFill>
                <a:latin typeface="Calibri"/>
              </a:defRPr>
            </a:pPr>
            <a:r>
              <a:rPr sz="900" b="0">
                <a:solidFill>
                  <a:srgbClr val="1B2A2E"/>
                </a:solidFill>
                <a:latin typeface="Calibri"/>
              </a:rPr>
              <a:t>3. Live alert banner appears</a:t>
            </a:r>
            <a:endParaRPr lang="en-US" sz="1200" dirty="0"/>
          </a:p>
          <a:p>
            <a:pPr marL="342900" indent="-342900" algn="l">
              <a:spcAft>
                <a:spcPts val="400"/>
              </a:spcAft>
              <a:buSzPct val="100000"/>
              <a:buChar char="▪"/>
              <a:defRPr sz="900" b="0">
                <a:solidFill>
                  <a:srgbClr val="1B2A2E"/>
                </a:solidFill>
                <a:latin typeface="Calibri"/>
              </a:defRPr>
            </a:pPr>
            <a:r>
              <a:rPr sz="900" b="0">
                <a:solidFill>
                  <a:srgbClr val="1B2A2E"/>
                </a:solidFill>
                <a:latin typeface="Calibri"/>
              </a:rPr>
              <a:t>4. Spline wave auto-focuses on asset</a:t>
            </a:r>
            <a:endParaRPr lang="en-US" sz="1200" dirty="0"/>
          </a:p>
          <a:p>
            <a:pPr marL="342900" indent="-342900" algn="l">
              <a:spcAft>
                <a:spcPts val="400"/>
              </a:spcAft>
              <a:buSzPct val="100000"/>
              <a:buChar char="▪"/>
              <a:defRPr sz="900" b="0">
                <a:solidFill>
                  <a:srgbClr val="1B2A2E"/>
                </a:solidFill>
                <a:latin typeface="Calibri"/>
              </a:defRPr>
            </a:pPr>
            <a:r>
              <a:rPr sz="900" b="0">
                <a:solidFill>
                  <a:srgbClr val="1B2A2E"/>
                </a:solidFill>
                <a:latin typeface="Calibri"/>
              </a:rPr>
              <a:t>5. 1-Click Resolve or Schedule Repair</a:t>
            </a:r>
            <a:endParaRPr lang="en-US" sz="1200" dirty="0"/>
          </a:p>
          <a:p>
            <a:pPr algn="l">
              <a:spcAft>
                <a:spcPts val="400"/>
              </a:spcAft>
              <a:buSzPct val="100000"/>
              <a:buChar char="▪"/>
              <a:defRPr sz="900" b="0">
                <a:solidFill>
                  <a:srgbClr val="1B2A2E"/>
                </a:solidFill>
                <a:latin typeface="Calibri"/>
              </a:defRPr>
            </a:pPr>
            <a:r>
              <a:rPr sz="900" b="0">
                <a:solidFill>
                  <a:srgbClr val="1B2A2E"/>
                </a:solidFill>
                <a:latin typeface="Calibri"/>
              </a:rPr>
              <a:t>6. Parts kitting &amp; crew assignment</a:t>
            </a:r>
          </a:p>
          <a:p>
            <a:pPr algn="l">
              <a:spcAft>
                <a:spcPts val="400"/>
              </a:spcAft>
              <a:buSzPct val="100000"/>
              <a:buChar char="▪"/>
              <a:defRPr sz="900" b="0">
                <a:solidFill>
                  <a:srgbClr val="1B2A2E"/>
                </a:solidFill>
                <a:latin typeface="Calibri"/>
              </a:defRPr>
            </a:pPr>
            <a:r>
              <a:rPr sz="900" b="0">
                <a:solidFill>
                  <a:srgbClr val="1B2A2E"/>
                </a:solidFill>
                <a:latin typeface="Calibri"/>
              </a:rPr>
              <a:t>7. Sign-off restores healthy baseline</a:t>
            </a:r>
          </a:p>
        </p:txBody>
      </p:sp>
      <p:sp>
        <p:nvSpPr>
          <p:cNvPr id="12" name="Text 10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6245352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defRPr sz="1000" b="0">
                <a:solidFill>
                  <a:srgbClr val="7A8F8C"/>
                </a:solidFill>
                <a:latin typeface="Calibri"/>
              </a:defRPr>
            </a:pPr>
            <a:r>
              <a:rPr sz="1000" b="0">
                <a:solidFill>
                  <a:srgbClr val="7A8F8C"/>
                </a:solidFill>
                <a:latin typeface="Calibri"/>
              </a:rPr>
              <a:t>Review 1 &amp; 2  |  Equipment Health &amp; Maintenance Monitor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57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 DIAGRAM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713232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 sz="1800" b="1">
                <a:solidFill>
                  <a:srgbClr val="1B2A2E"/>
                </a:solidFill>
                <a:latin typeface="Cambria"/>
              </a:defRPr>
            </a:pPr>
            <a:r>
              <a:rPr sz="1800" b="1">
                <a:solidFill>
                  <a:srgbClr val="1B2A2E"/>
                </a:solidFill>
                <a:latin typeface="Cambria"/>
              </a:rPr>
              <a:t>MongoDB Document Schemas &amp; Relationships</a:t>
            </a:r>
          </a:p>
        </p:txBody>
      </p:sp>
      <p:sp>
        <p:nvSpPr>
          <p:cNvPr id="6" name="Shape 4"/>
          <p:cNvSpPr/>
          <p:nvPr/>
        </p:nvSpPr>
        <p:spPr>
          <a:xfrm>
            <a:off x="1097280" y="1371600"/>
            <a:ext cx="10607040" cy="0"/>
          </a:xfrm>
          <a:prstGeom prst="line">
            <a:avLst/>
          </a:prstGeom>
          <a:noFill/>
          <a:ln w="12700">
            <a:solidFill>
              <a:srgbClr val="D7E7E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97280" y="1737360"/>
            <a:ext cx="6035040" cy="4114800"/>
          </a:xfrm>
          <a:prstGeom prst="roundRect">
            <a:avLst>
              <a:gd name="adj" fmla="val 1778"/>
            </a:avLst>
          </a:prstGeom>
          <a:solidFill>
            <a:srgbClr val="F4FAF9"/>
          </a:solidFill>
          <a:ln w="19050">
            <a:solidFill>
              <a:srgbClr val="00A896"/>
            </a:solidFill>
            <a:prstDash val="dash"/>
          </a:ln>
        </p:spPr>
      </p:sp>
      <p:sp>
        <p:nvSpPr>
          <p:cNvPr id="8" name="Text 6"/>
          <p:cNvSpPr txBox="1"/>
          <p:nvPr/>
        </p:nvSpPr>
        <p:spPr>
          <a:xfrm>
            <a:off x="1280160" y="3474720"/>
            <a:ext cx="5669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400"/>
              </a:spcAft>
              <a:buNone/>
              <a:defRPr sz="900" b="0">
                <a:solidFill>
                  <a:srgbClr val="1B2A2E"/>
                </a:solidFill>
                <a:latin typeface="Calibri"/>
              </a:defRPr>
            </a:pPr>
            <a:r>
              <a:rPr sz="900" b="0">
                <a:solidFill>
                  <a:srgbClr val="1B2A2E"/>
                </a:solidFill>
                <a:latin typeface="Calibri"/>
              </a:rPr>
              <a:t>Collection: machines (Fleet Roster)</a:t>
            </a:r>
            <a:endParaRPr lang="en-US" sz="1400" dirty="0"/>
          </a:p>
          <a:p>
            <a:pPr marL="0" indent="0" algn="l">
              <a:spcAft>
                <a:spcPts val="400"/>
              </a:spcAft>
              <a:buNone/>
              <a:defRPr sz="900" b="0">
                <a:solidFill>
                  <a:srgbClr val="1B2A2E"/>
                </a:solidFill>
                <a:latin typeface="Calibri"/>
              </a:defRPr>
            </a:pPr>
            <a:r>
              <a:rPr sz="900" b="0">
                <a:solidFill>
                  <a:srgbClr val="1B2A2E"/>
                </a:solidFill>
                <a:latin typeface="Calibri"/>
              </a:rPr>
              <a:t>  - machineId, name, line, type (ROBOTIC_GEARBOX, CENTRIFUGAL_COMPRESSOR, CNC_SPINDLE, HYDRAULIC_PUMP)</a:t>
            </a:r>
            <a:endParaRPr lang="en-US" sz="1400" dirty="0"/>
          </a:p>
          <a:p>
            <a:pPr algn="l">
              <a:spcAft>
                <a:spcPts val="400"/>
              </a:spcAft>
              <a:buNone/>
              <a:defRPr sz="900" b="0">
                <a:solidFill>
                  <a:srgbClr val="1B2A2E"/>
                </a:solidFill>
                <a:latin typeface="Calibri"/>
              </a:defRPr>
            </a:pPr>
            <a:r>
              <a:rPr sz="900" b="0">
                <a:solidFill>
                  <a:srgbClr val="1B2A2E"/>
                </a:solidFill>
                <a:latin typeface="Calibri"/>
              </a:rPr>
              <a:t>  - healthScore, anomalyScore, status (HEALTHY, EARLY_DEGRADATION, SEVERE_ANOMALY, CRITICAL_SHUTDOWN)</a:t>
            </a:r>
          </a:p>
          <a:p>
            <a:pPr algn="l">
              <a:spcAft>
                <a:spcPts val="400"/>
              </a:spcAft>
              <a:buNone/>
              <a:defRPr sz="900" b="0">
                <a:solidFill>
                  <a:srgbClr val="1B2A2E"/>
                </a:solidFill>
                <a:latin typeface="Calibri"/>
              </a:defRPr>
            </a:pPr>
            <a:r>
              <a:rPr sz="900" b="0">
                <a:solidFill>
                  <a:srgbClr val="1B2A2E"/>
                </a:solidFill>
                <a:latin typeface="Calibri"/>
              </a:rPr>
              <a:t>  - currentVibrationRms, warningVibrationRms, currentBearingPeakG, currentTempC</a:t>
            </a:r>
          </a:p>
          <a:p>
            <a:pPr algn="l">
              <a:spcAft>
                <a:spcPts val="400"/>
              </a:spcAft>
              <a:buNone/>
              <a:defRPr sz="900" b="0">
                <a:solidFill>
                  <a:srgbClr val="1B2A2E"/>
                </a:solidFill>
                <a:latin typeface="Calibri"/>
              </a:defRPr>
            </a:pPr>
            <a:r>
              <a:rPr sz="900" b="0">
                <a:solidFill>
                  <a:srgbClr val="1B2A2E"/>
                </a:solidFill>
                <a:latin typeface="Calibri"/>
              </a:rPr>
              <a:t>  - predictedRulHours, rulConfidenceMin, rulConfidenceMax</a:t>
            </a:r>
          </a:p>
          <a:p>
            <a:pPr algn="l">
              <a:spcAft>
                <a:spcPts val="400"/>
              </a:spcAft>
              <a:buNone/>
              <a:defRPr sz="900" b="0">
                <a:solidFill>
                  <a:srgbClr val="1B2A2E"/>
                </a:solidFill>
                <a:latin typeface="Calibri"/>
              </a:defRPr>
            </a:pPr>
          </a:p>
          <a:p>
            <a:pPr algn="l">
              <a:spcAft>
                <a:spcPts val="400"/>
              </a:spcAft>
              <a:buNone/>
              <a:defRPr sz="900" b="0">
                <a:solidFill>
                  <a:srgbClr val="1B2A2E"/>
                </a:solidFill>
                <a:latin typeface="Calibri"/>
              </a:defRPr>
            </a:pPr>
            <a:r>
              <a:rPr sz="900" b="0">
                <a:solidFill>
                  <a:srgbClr val="1B2A2E"/>
                </a:solidFill>
                <a:latin typeface="Calibri"/>
              </a:rPr>
              <a:t>Collection: telemetryreadings (Time-Series Stream)</a:t>
            </a:r>
          </a:p>
          <a:p>
            <a:pPr algn="l">
              <a:spcAft>
                <a:spcPts val="400"/>
              </a:spcAft>
              <a:buNone/>
              <a:defRPr sz="900" b="0">
                <a:solidFill>
                  <a:srgbClr val="1B2A2E"/>
                </a:solidFill>
                <a:latin typeface="Calibri"/>
              </a:defRPr>
            </a:pPr>
            <a:r>
              <a:rPr sz="900" b="0">
                <a:solidFill>
                  <a:srgbClr val="1B2A2E"/>
                </a:solidFill>
                <a:latin typeface="Calibri"/>
              </a:rPr>
              <a:t>  - machineId, timestamp (Compound Indexed), vibrationRms, bearingPeakG, tempC</a:t>
            </a:r>
          </a:p>
          <a:p>
            <a:pPr algn="l">
              <a:spcAft>
                <a:spcPts val="400"/>
              </a:spcAft>
              <a:buNone/>
              <a:defRPr sz="900" b="0">
                <a:solidFill>
                  <a:srgbClr val="1B2A2E"/>
                </a:solidFill>
                <a:latin typeface="Calibri"/>
              </a:defRPr>
            </a:pPr>
            <a:r>
              <a:rPr sz="900" b="0">
                <a:solidFill>
                  <a:srgbClr val="1B2A2E"/>
                </a:solidFill>
                <a:latin typeface="Calibri"/>
              </a:rPr>
              <a:t>  - acousticEmissionDb, motorCurrentAmps, rpm, anomalyFlag</a:t>
            </a:r>
          </a:p>
          <a:p>
            <a:pPr algn="l">
              <a:spcAft>
                <a:spcPts val="400"/>
              </a:spcAft>
              <a:buNone/>
              <a:defRPr sz="900" b="0">
                <a:solidFill>
                  <a:srgbClr val="1B2A2E"/>
                </a:solidFill>
                <a:latin typeface="Calibri"/>
              </a:defRPr>
            </a:pPr>
          </a:p>
          <a:p>
            <a:pPr algn="l">
              <a:spcAft>
                <a:spcPts val="400"/>
              </a:spcAft>
              <a:buNone/>
              <a:defRPr sz="900" b="0">
                <a:solidFill>
                  <a:srgbClr val="1B2A2E"/>
                </a:solidFill>
                <a:latin typeface="Calibri"/>
              </a:defRPr>
            </a:pPr>
            <a:r>
              <a:rPr sz="900" b="0">
                <a:solidFill>
                  <a:srgbClr val="1B2A2E"/>
                </a:solidFill>
                <a:latin typeface="Calibri"/>
              </a:rPr>
              <a:t>Collection: anomalyalerts</a:t>
            </a:r>
          </a:p>
          <a:p>
            <a:pPr algn="l">
              <a:spcAft>
                <a:spcPts val="400"/>
              </a:spcAft>
              <a:buNone/>
              <a:defRPr sz="900" b="0">
                <a:solidFill>
                  <a:srgbClr val="1B2A2E"/>
                </a:solidFill>
                <a:latin typeface="Calibri"/>
              </a:defRPr>
            </a:pPr>
            <a:r>
              <a:rPr sz="900" b="0">
                <a:solidFill>
                  <a:srgbClr val="1B2A2E"/>
                </a:solidFill>
                <a:latin typeface="Calibri"/>
              </a:rPr>
              <a:t>  - alertId (Unique), machineId, severity (HIGH, CRITICAL), failureMode, anomalyScore</a:t>
            </a:r>
          </a:p>
          <a:p>
            <a:pPr algn="l">
              <a:spcAft>
                <a:spcPts val="400"/>
              </a:spcAft>
              <a:buNone/>
              <a:defRPr sz="900" b="0">
                <a:solidFill>
                  <a:srgbClr val="1B2A2E"/>
                </a:solidFill>
                <a:latin typeface="Calibri"/>
              </a:defRPr>
            </a:pPr>
            <a:r>
              <a:rPr sz="900" b="0">
                <a:solidFill>
                  <a:srgbClr val="1B2A2E"/>
                </a:solidFill>
                <a:latin typeface="Calibri"/>
              </a:rPr>
              <a:t>  - explainability [ { feature, contributionPercent, description } ], status (OPEN, WORK_ORDER_DISPATCHED, RESOLVED)</a:t>
            </a:r>
          </a:p>
          <a:p>
            <a:pPr algn="l">
              <a:spcAft>
                <a:spcPts val="400"/>
              </a:spcAft>
              <a:buNone/>
              <a:defRPr sz="900" b="0">
                <a:solidFill>
                  <a:srgbClr val="1B2A2E"/>
                </a:solidFill>
                <a:latin typeface="Calibri"/>
              </a:defRPr>
            </a:pPr>
          </a:p>
          <a:p>
            <a:pPr algn="l">
              <a:spcAft>
                <a:spcPts val="400"/>
              </a:spcAft>
              <a:buNone/>
              <a:defRPr sz="900" b="0">
                <a:solidFill>
                  <a:srgbClr val="1B2A2E"/>
                </a:solidFill>
                <a:latin typeface="Calibri"/>
              </a:defRPr>
            </a:pPr>
            <a:r>
              <a:rPr sz="900" b="0">
                <a:solidFill>
                  <a:srgbClr val="1B2A2E"/>
                </a:solidFill>
                <a:latin typeface="Calibri"/>
              </a:rPr>
              <a:t>Collection: maintenanceactions (Repairs &amp; Tasks)</a:t>
            </a:r>
          </a:p>
          <a:p>
            <a:pPr algn="l">
              <a:spcAft>
                <a:spcPts val="400"/>
              </a:spcAft>
              <a:buNone/>
              <a:defRPr sz="900" b="0">
                <a:solidFill>
                  <a:srgbClr val="1B2A2E"/>
                </a:solidFill>
                <a:latin typeface="Calibri"/>
              </a:defRPr>
            </a:pPr>
            <a:r>
              <a:rPr sz="900" b="0">
                <a:solidFill>
                  <a:srgbClr val="1B2A2E"/>
                </a:solidFill>
                <a:latin typeface="Calibri"/>
              </a:rPr>
              <a:t>  - workOrderId, machineId, title, priority, scheduledDate, assignedTeam</a:t>
            </a:r>
          </a:p>
          <a:p>
            <a:pPr algn="l">
              <a:spcAft>
                <a:spcPts val="400"/>
              </a:spcAft>
              <a:buNone/>
              <a:defRPr sz="900" b="0">
                <a:solidFill>
                  <a:srgbClr val="1B2A2E"/>
                </a:solidFill>
                <a:latin typeface="Calibri"/>
              </a:defRPr>
            </a:pPr>
            <a:r>
              <a:rPr sz="900" b="0">
                <a:solidFill>
                  <a:srgbClr val="1B2A2E"/>
                </a:solidFill>
                <a:latin typeface="Calibri"/>
              </a:rPr>
              <a:t>  - partsRequired [ { partNumber, name, inStock } ], status (DISPATCHED, COMPLETED)</a:t>
            </a:r>
          </a:p>
        </p:txBody>
      </p:sp>
      <p:sp>
        <p:nvSpPr>
          <p:cNvPr id="9" name="Shape 7"/>
          <p:cNvSpPr/>
          <p:nvPr/>
        </p:nvSpPr>
        <p:spPr>
          <a:xfrm>
            <a:off x="7406640" y="1737360"/>
            <a:ext cx="3657600" cy="41148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7E7E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635240" y="19202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Schema Strengths</a:t>
            </a:r>
          </a:p>
        </p:txBody>
      </p:sp>
      <p:sp>
        <p:nvSpPr>
          <p:cNvPr id="11" name="Text 9"/>
          <p:cNvSpPr txBox="1"/>
          <p:nvPr/>
        </p:nvSpPr>
        <p:spPr>
          <a:xfrm>
            <a:off x="7635240" y="2331720"/>
            <a:ext cx="32004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 algn="l">
              <a:spcAft>
                <a:spcPts val="400"/>
              </a:spcAft>
              <a:buSzPct val="100000"/>
              <a:buChar char="▪"/>
              <a:defRPr sz="900" b="0">
                <a:solidFill>
                  <a:srgbClr val="1B2A2E"/>
                </a:solidFill>
                <a:latin typeface="Calibri"/>
              </a:defRPr>
            </a:pPr>
            <a:r>
              <a:rPr sz="900" b="0">
                <a:solidFill>
                  <a:srgbClr val="1B2A2E"/>
                </a:solidFill>
                <a:latin typeface="Calibri"/>
              </a:rPr>
              <a:t>Compound indexing on (machineId, timestamp)</a:t>
            </a:r>
            <a:endParaRPr lang="en-US" sz="1200" dirty="0"/>
          </a:p>
          <a:p>
            <a:pPr marL="342900" indent="-342900" algn="l">
              <a:spcAft>
                <a:spcPts val="400"/>
              </a:spcAft>
              <a:buSzPct val="100000"/>
              <a:buChar char="▪"/>
              <a:defRPr sz="900" b="0">
                <a:solidFill>
                  <a:srgbClr val="1B2A2E"/>
                </a:solidFill>
                <a:latin typeface="Calibri"/>
              </a:defRPr>
            </a:pPr>
            <a:r>
              <a:rPr sz="900" b="0">
                <a:solidFill>
                  <a:srgbClr val="1B2A2E"/>
                </a:solidFill>
                <a:latin typeface="Calibri"/>
              </a:rPr>
              <a:t>Rolling 25-point buffer for smooth spline charts</a:t>
            </a:r>
            <a:endParaRPr lang="en-US" sz="1200" dirty="0"/>
          </a:p>
          <a:p>
            <a:pPr marL="342900" indent="-342900" algn="l">
              <a:spcAft>
                <a:spcPts val="400"/>
              </a:spcAft>
              <a:buSzPct val="100000"/>
              <a:buChar char="▪"/>
              <a:defRPr sz="900" b="0">
                <a:solidFill>
                  <a:srgbClr val="1B2A2E"/>
                </a:solidFill>
                <a:latin typeface="Calibri"/>
              </a:defRPr>
            </a:pPr>
            <a:r>
              <a:rPr sz="900" b="0">
                <a:solidFill>
                  <a:srgbClr val="1B2A2E"/>
                </a:solidFill>
                <a:latin typeface="Calibri"/>
              </a:rPr>
              <a:t>Embedded explainability feature attribution arrays</a:t>
            </a:r>
            <a:endParaRPr lang="en-US" sz="1200" dirty="0"/>
          </a:p>
          <a:p>
            <a:pPr marL="342900" indent="-342900" algn="l">
              <a:spcAft>
                <a:spcPts val="400"/>
              </a:spcAft>
              <a:buSzPct val="100000"/>
              <a:buChar char="▪"/>
              <a:defRPr sz="900" b="0">
                <a:solidFill>
                  <a:srgbClr val="1B2A2E"/>
                </a:solidFill>
                <a:latin typeface="Calibri"/>
              </a:defRPr>
            </a:pPr>
            <a:r>
              <a:rPr sz="900" b="0">
                <a:solidFill>
                  <a:srgbClr val="1B2A2E"/>
                </a:solidFill>
                <a:latin typeface="Calibri"/>
              </a:rPr>
              <a:t>Bidirectional foreign key links (alertId, workOrderId)</a:t>
            </a:r>
            <a:endParaRPr lang="en-US" sz="1200" dirty="0"/>
          </a:p>
          <a:p>
            <a:pPr marL="342900" indent="-342900" algn="l">
              <a:spcAft>
                <a:spcPts val="400"/>
              </a:spcAft>
              <a:buSzPct val="100000"/>
              <a:buChar char="▪"/>
              <a:defRPr sz="900" b="0">
                <a:solidFill>
                  <a:srgbClr val="1B2A2E"/>
                </a:solidFill>
                <a:latin typeface="Calibri"/>
              </a:defRPr>
            </a:pPr>
            <a:r>
              <a:rPr sz="900" b="0">
                <a:solidFill>
                  <a:srgbClr val="1B2A2E"/>
                </a:solidFill>
                <a:latin typeface="Calibri"/>
              </a:rPr>
              <a:t>Atomic document state transitions</a:t>
            </a:r>
            <a:endParaRPr lang="en-US" sz="1200" dirty="0"/>
          </a:p>
          <a:p>
            <a:pPr algn="l">
              <a:spcAft>
                <a:spcPts val="400"/>
              </a:spcAft>
              <a:buSzPct val="100000"/>
              <a:buChar char="▪"/>
              <a:defRPr sz="900" b="0">
                <a:solidFill>
                  <a:srgbClr val="1B2A2E"/>
                </a:solidFill>
                <a:latin typeface="Calibri"/>
              </a:defRPr>
            </a:pPr>
            <a:r>
              <a:rPr sz="900" b="0">
                <a:solidFill>
                  <a:srgbClr val="1B2A2E"/>
                </a:solidFill>
                <a:latin typeface="Calibri"/>
              </a:rPr>
              <a:t>Zero-setup database auto-seeding on boot</a:t>
            </a:r>
          </a:p>
        </p:txBody>
      </p:sp>
      <p:sp>
        <p:nvSpPr>
          <p:cNvPr id="12" name="Text 10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 Diagram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6245352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defRPr sz="1000" b="0">
                <a:solidFill>
                  <a:srgbClr val="7A8F8C"/>
                </a:solidFill>
                <a:latin typeface="Calibri"/>
              </a:defRPr>
            </a:pPr>
            <a:r>
              <a:rPr sz="1000" b="0">
                <a:solidFill>
                  <a:srgbClr val="7A8F8C"/>
                </a:solidFill>
                <a:latin typeface="Calibri"/>
              </a:rPr>
              <a:t>Review 1 &amp; 2  |  Equipment Health &amp; Maintenance Monitor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57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713232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 sz="1800" b="1">
                <a:solidFill>
                  <a:srgbClr val="1B2A2E"/>
                </a:solidFill>
                <a:latin typeface="Cambria"/>
              </a:defRPr>
            </a:pPr>
            <a:r>
              <a:rPr sz="1800" b="1">
                <a:solidFill>
                  <a:srgbClr val="1B2A2E"/>
                </a:solidFill>
                <a:latin typeface="Cambria"/>
              </a:rPr>
              <a:t>Core Predictive Maintenance Modules</a:t>
            </a:r>
          </a:p>
        </p:txBody>
      </p:sp>
      <p:sp>
        <p:nvSpPr>
          <p:cNvPr id="6" name="Shape 4"/>
          <p:cNvSpPr/>
          <p:nvPr/>
        </p:nvSpPr>
        <p:spPr>
          <a:xfrm>
            <a:off x="1097280" y="1371600"/>
            <a:ext cx="10607040" cy="0"/>
          </a:xfrm>
          <a:prstGeom prst="line">
            <a:avLst/>
          </a:prstGeom>
          <a:noFill/>
          <a:ln w="12700">
            <a:solidFill>
              <a:srgbClr val="D7E7E5"/>
            </a:solidFill>
            <a:prstDash val="solid"/>
          </a:ln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97280" y="1691640"/>
          <a:ext cx="9966960" cy="274320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46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Functions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B2A2E"/>
                          </a:solidFill>
                          <a:latin typeface="Calibri"/>
                        </a:defRPr>
                      </a:pPr>
                      <a:r>
                        <a:rPr sz="900" b="0">
                          <a:solidFill>
                            <a:srgbClr val="1B2A2E"/>
                          </a:solidFill>
                          <a:latin typeface="Calibri"/>
                        </a:rPr>
                        <a:t>Telemetry Simulator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B2A2E"/>
                          </a:solidFill>
                          <a:latin typeface="Calibri"/>
                        </a:defRPr>
                      </a:pPr>
                      <a:r>
                        <a:rPr sz="900" b="0">
                          <a:solidFill>
                            <a:srgbClr val="1B2A2E"/>
                          </a:solidFill>
                          <a:latin typeface="Calibri"/>
                        </a:rPr>
                        <a:t>Core Engine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B2A2E"/>
                          </a:solidFill>
                          <a:latin typeface="Calibri"/>
                        </a:defRPr>
                      </a:pPr>
                      <a:r>
                        <a:rPr sz="900" b="0">
                          <a:solidFill>
                            <a:srgbClr val="1B2A2E"/>
                          </a:solidFill>
                          <a:latin typeface="Calibri"/>
                        </a:rPr>
                        <a:t>3s heartbeat generating realistic vibration, bearing crest impact, and temperature waveforms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B2A2E"/>
                          </a:solidFill>
                          <a:latin typeface="Calibri"/>
                        </a:defRPr>
                      </a:pPr>
                      <a:r>
                        <a:rPr sz="900" b="0">
                          <a:solidFill>
                            <a:srgbClr val="1B2A2E"/>
                          </a:solidFill>
                          <a:latin typeface="Calibri"/>
                        </a:rPr>
                        <a:t>Simulation Cockpit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B2A2E"/>
                          </a:solidFill>
                          <a:latin typeface="Calibri"/>
                        </a:defRPr>
                      </a:pPr>
                      <a:r>
                        <a:rPr sz="900" b="0">
                          <a:solidFill>
                            <a:srgbClr val="1B2A2E"/>
                          </a:solidFill>
                          <a:latin typeface="Calibri"/>
                        </a:rPr>
                        <a:t>Testing Bar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B2A2E"/>
                          </a:solidFill>
                          <a:latin typeface="Calibri"/>
                        </a:defRPr>
                      </a:pPr>
                      <a:r>
                        <a:rPr sz="900" b="0">
                          <a:solidFill>
                            <a:srgbClr val="1B2A2E"/>
                          </a:solidFill>
                          <a:latin typeface="Calibri"/>
                        </a:rPr>
                        <a:t>Minimal dark floating bar allowing 1-click failure injection (Vib Spike, Bearing Defect, RUL Collapse, Reset)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B2A2E"/>
                          </a:solidFill>
                          <a:latin typeface="Calibri"/>
                        </a:defRPr>
                      </a:pPr>
                      <a:r>
                        <a:rPr sz="900" b="0">
                          <a:solidFill>
                            <a:srgbClr val="1B2A2E"/>
                          </a:solidFill>
                          <a:latin typeface="Calibri"/>
                        </a:rPr>
                        <a:t>Vibration Wave Chart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B2A2E"/>
                          </a:solidFill>
                          <a:latin typeface="Calibri"/>
                        </a:defRPr>
                      </a:pPr>
                      <a:r>
                        <a:rPr sz="900" b="0">
                          <a:solidFill>
                            <a:srgbClr val="1B2A2E"/>
                          </a:solidFill>
                          <a:latin typeface="Calibri"/>
                        </a:rPr>
                        <a:t>Visualization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B2A2E"/>
                          </a:solidFill>
                          <a:latin typeface="Calibri"/>
                        </a:defRPr>
                      </a:pPr>
                      <a:r>
                        <a:rPr sz="900" b="0">
                          <a:solidFill>
                            <a:srgbClr val="1B2A2E"/>
                          </a:solidFill>
                          <a:latin typeface="Calibri"/>
                        </a:rPr>
                        <a:t>Cubic Bezier spline with dynamic auto-zoom, machine switcher, pulsing beacon &amp; ISO limit line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B2A2E"/>
                          </a:solidFill>
                          <a:latin typeface="Calibri"/>
                        </a:defRPr>
                      </a:pPr>
                      <a:r>
                        <a:rPr sz="900" b="0">
                          <a:solidFill>
                            <a:srgbClr val="1B2A2E"/>
                          </a:solidFill>
                          <a:latin typeface="Calibri"/>
                        </a:rPr>
                        <a:t>Anomaly Detection &amp; RUL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B2A2E"/>
                          </a:solidFill>
                          <a:latin typeface="Calibri"/>
                        </a:defRPr>
                      </a:pPr>
                      <a:r>
                        <a:rPr sz="900" b="0">
                          <a:solidFill>
                            <a:srgbClr val="1B2A2E"/>
                          </a:solidFill>
                          <a:latin typeface="Calibri"/>
                        </a:rPr>
                        <a:t>Analytics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B2A2E"/>
                          </a:solidFill>
                          <a:latin typeface="Calibri"/>
                        </a:defRPr>
                      </a:pPr>
                      <a:r>
                        <a:rPr sz="900" b="0">
                          <a:solidFill>
                            <a:srgbClr val="1B2A2E"/>
                          </a:solidFill>
                          <a:latin typeface="Calibri"/>
                        </a:rPr>
                        <a:t>ISO 10816 limit checking, exponential RUL degradation modeling, and XAI feature attribution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B2A2E"/>
                          </a:solidFill>
                          <a:latin typeface="Calibri"/>
                        </a:defRPr>
                      </a:pPr>
                      <a:r>
                        <a:rPr sz="900" b="0">
                          <a:solidFill>
                            <a:srgbClr val="1B2A2E"/>
                          </a:solidFill>
                          <a:latin typeface="Calibri"/>
                        </a:rPr>
                        <a:t>Repairs &amp; Tasks Dispatch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B2A2E"/>
                          </a:solidFill>
                          <a:latin typeface="Calibri"/>
                        </a:defRPr>
                      </a:pPr>
                      <a:r>
                        <a:rPr sz="900" b="0">
                          <a:solidFill>
                            <a:srgbClr val="1B2A2E"/>
                          </a:solidFill>
                          <a:latin typeface="Calibri"/>
                        </a:rPr>
                        <a:t>Maintenance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B2A2E"/>
                          </a:solidFill>
                          <a:latin typeface="Calibri"/>
                        </a:defRPr>
                      </a:pPr>
                      <a:r>
                        <a:rPr sz="900" b="0">
                          <a:solidFill>
                            <a:srgbClr val="1B2A2E"/>
                          </a:solidFill>
                          <a:latin typeface="Calibri"/>
                        </a:rPr>
                        <a:t>Context-aware repair scheduling with machine-specific parts kitting &amp; technician assignment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 5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6245352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defRPr sz="1000" b="0">
                <a:solidFill>
                  <a:srgbClr val="7A8F8C"/>
                </a:solidFill>
                <a:latin typeface="Calibri"/>
              </a:defRPr>
            </a:pPr>
            <a:r>
              <a:rPr sz="1000" b="0">
                <a:solidFill>
                  <a:srgbClr val="7A8F8C"/>
                </a:solidFill>
                <a:latin typeface="Calibri"/>
              </a:rPr>
              <a:t>Review 1 &amp; 2  |  Equipment Health &amp; Maintenance Monitor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57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713232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 sz="1800" b="1">
                <a:solidFill>
                  <a:srgbClr val="1B2A2E"/>
                </a:solidFill>
                <a:latin typeface="Cambria"/>
              </a:defRPr>
            </a:pPr>
            <a:r>
              <a:rPr sz="1800" b="1">
                <a:solidFill>
                  <a:srgbClr val="1B2A2E"/>
                </a:solidFill>
                <a:latin typeface="Cambria"/>
              </a:rPr>
              <a:t>Technology Stack &amp; Toolchain</a:t>
            </a:r>
          </a:p>
        </p:txBody>
      </p:sp>
      <p:sp>
        <p:nvSpPr>
          <p:cNvPr id="6" name="Shape 4"/>
          <p:cNvSpPr/>
          <p:nvPr/>
        </p:nvSpPr>
        <p:spPr>
          <a:xfrm>
            <a:off x="1097280" y="1371600"/>
            <a:ext cx="10607040" cy="0"/>
          </a:xfrm>
          <a:prstGeom prst="line">
            <a:avLst/>
          </a:prstGeom>
          <a:noFill/>
          <a:ln w="12700">
            <a:solidFill>
              <a:srgbClr val="D7E7E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97280" y="1920240"/>
            <a:ext cx="2331720" cy="1737360"/>
          </a:xfrm>
          <a:prstGeom prst="roundRect">
            <a:avLst>
              <a:gd name="adj" fmla="val 5263"/>
            </a:avLst>
          </a:prstGeom>
          <a:solidFill>
            <a:srgbClr val="F4FAF9"/>
          </a:solidFill>
          <a:ln w="19050">
            <a:solidFill>
              <a:srgbClr val="4C9A5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97280" y="237744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MongoDB 6</a:t>
            </a:r>
          </a:p>
        </p:txBody>
      </p:sp>
      <p:sp>
        <p:nvSpPr>
          <p:cNvPr id="9" name="Text 7"/>
          <p:cNvSpPr txBox="1"/>
          <p:nvPr/>
        </p:nvSpPr>
        <p:spPr>
          <a:xfrm>
            <a:off x="1097280" y="28803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NoSQL Database &amp; Time-Series</a:t>
            </a:r>
          </a:p>
        </p:txBody>
      </p:sp>
      <p:sp>
        <p:nvSpPr>
          <p:cNvPr id="10" name="Shape 8"/>
          <p:cNvSpPr/>
          <p:nvPr/>
        </p:nvSpPr>
        <p:spPr>
          <a:xfrm>
            <a:off x="3657600" y="1920240"/>
            <a:ext cx="2331720" cy="1737360"/>
          </a:xfrm>
          <a:prstGeom prst="roundRect">
            <a:avLst>
              <a:gd name="adj" fmla="val 5263"/>
            </a:avLst>
          </a:prstGeom>
          <a:solidFill>
            <a:srgbClr val="F4FAF9"/>
          </a:solidFill>
          <a:ln w="19050">
            <a:solidFill>
              <a:srgbClr val="1B2A2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657600" y="237744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Express.js</a:t>
            </a:r>
          </a:p>
        </p:txBody>
      </p:sp>
      <p:sp>
        <p:nvSpPr>
          <p:cNvPr id="12" name="Text 10"/>
          <p:cNvSpPr txBox="1"/>
          <p:nvPr/>
        </p:nvSpPr>
        <p:spPr>
          <a:xfrm>
            <a:off x="3657600" y="28803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REST API &amp; Scenario Controller</a:t>
            </a:r>
          </a:p>
        </p:txBody>
      </p:sp>
      <p:sp>
        <p:nvSpPr>
          <p:cNvPr id="13" name="Shape 11"/>
          <p:cNvSpPr/>
          <p:nvPr/>
        </p:nvSpPr>
        <p:spPr>
          <a:xfrm>
            <a:off x="6217920" y="1920240"/>
            <a:ext cx="2331720" cy="1737360"/>
          </a:xfrm>
          <a:prstGeom prst="roundRect">
            <a:avLst>
              <a:gd name="adj" fmla="val 5263"/>
            </a:avLst>
          </a:prstGeom>
          <a:solidFill>
            <a:srgbClr val="F4FAF9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217920" y="237744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React 18 + Vite</a:t>
            </a:r>
          </a:p>
        </p:txBody>
      </p:sp>
      <p:sp>
        <p:nvSpPr>
          <p:cNvPr id="15" name="Text 13"/>
          <p:cNvSpPr txBox="1"/>
          <p:nvPr/>
        </p:nvSpPr>
        <p:spPr>
          <a:xfrm>
            <a:off x="6217920" y="28803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Fast SPA &amp; SVG Spline Engine</a:t>
            </a:r>
          </a:p>
        </p:txBody>
      </p:sp>
      <p:sp>
        <p:nvSpPr>
          <p:cNvPr id="16" name="Shape 14"/>
          <p:cNvSpPr/>
          <p:nvPr/>
        </p:nvSpPr>
        <p:spPr>
          <a:xfrm>
            <a:off x="8778240" y="1920240"/>
            <a:ext cx="2331720" cy="1737360"/>
          </a:xfrm>
          <a:prstGeom prst="roundRect">
            <a:avLst>
              <a:gd name="adj" fmla="val 5263"/>
            </a:avLst>
          </a:prstGeom>
          <a:solidFill>
            <a:srgbClr val="F4FAF9"/>
          </a:solidFill>
          <a:ln w="19050">
            <a:solidFill>
              <a:srgbClr val="4C9A5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778240" y="237744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Node.js v20</a:t>
            </a:r>
          </a:p>
        </p:txBody>
      </p:sp>
      <p:sp>
        <p:nvSpPr>
          <p:cNvPr id="18" name="Text 16"/>
          <p:cNvSpPr txBox="1"/>
          <p:nvPr/>
        </p:nvSpPr>
        <p:spPr>
          <a:xfrm>
            <a:off x="8778240" y="28803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Telemetry Heartbeat Runtime</a:t>
            </a:r>
          </a:p>
        </p:txBody>
      </p:sp>
      <p:sp>
        <p:nvSpPr>
          <p:cNvPr id="19" name="Text 17"/>
          <p:cNvSpPr txBox="1"/>
          <p:nvPr/>
        </p:nvSpPr>
        <p:spPr>
          <a:xfrm>
            <a:off x="1097280" y="39776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Supporting Tools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1097280" y="4434840"/>
            <a:ext cx="9966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 algn="l">
              <a:spcAft>
                <a:spcPts val="400"/>
              </a:spcAft>
              <a:buSzPct val="100000"/>
              <a:buChar char="▪"/>
              <a:defRPr sz="1000" b="0">
                <a:solidFill>
                  <a:srgbClr val="1B2A2E"/>
                </a:solidFill>
                <a:latin typeface="Calibri"/>
              </a:defRPr>
            </a:pPr>
            <a:r>
              <a:rPr sz="1000" b="0">
                <a:solidFill>
                  <a:srgbClr val="1B2A2E"/>
                </a:solidFill>
                <a:latin typeface="Calibri"/>
              </a:rPr>
              <a:t>Socket.io: Sub-50ms bidirectional WebSocket telemetry streaming</a:t>
            </a:r>
            <a:endParaRPr lang="en-US" sz="1300" dirty="0"/>
          </a:p>
          <a:p>
            <a:pPr marL="342900" indent="-342900" algn="l">
              <a:spcAft>
                <a:spcPts val="400"/>
              </a:spcAft>
              <a:buSzPct val="100000"/>
              <a:buChar char="▪"/>
              <a:defRPr sz="1000" b="0">
                <a:solidFill>
                  <a:srgbClr val="1B2A2E"/>
                </a:solidFill>
                <a:latin typeface="Calibri"/>
              </a:defRPr>
            </a:pPr>
            <a:r>
              <a:rPr sz="1000" b="0">
                <a:solidFill>
                  <a:srgbClr val="1B2A2E"/>
                </a:solidFill>
                <a:latin typeface="Calibri"/>
              </a:rPr>
              <a:t>Playwright Core: Automated end-to-end browser testing driving local Chrome</a:t>
            </a:r>
            <a:endParaRPr lang="en-US" sz="1300" dirty="0"/>
          </a:p>
          <a:p>
            <a:pPr marL="342900" indent="-342900" algn="l">
              <a:spcAft>
                <a:spcPts val="400"/>
              </a:spcAft>
              <a:buSzPct val="100000"/>
              <a:buChar char="▪"/>
              <a:defRPr sz="1000" b="0">
                <a:solidFill>
                  <a:srgbClr val="1B2A2E"/>
                </a:solidFill>
                <a:latin typeface="Calibri"/>
              </a:defRPr>
            </a:pPr>
            <a:r>
              <a:rPr sz="1000" b="0">
                <a:solidFill>
                  <a:srgbClr val="1B2A2E"/>
                </a:solidFill>
                <a:latin typeface="Calibri"/>
              </a:rPr>
              <a:t>Docker &amp; Docker Compose: Multi-container deployment with isolated networking</a:t>
            </a:r>
            <a:endParaRPr lang="en-US" sz="1300" dirty="0"/>
          </a:p>
          <a:p>
            <a:pPr marL="342900" indent="-342900" algn="l">
              <a:spcAft>
                <a:spcPts val="400"/>
              </a:spcAft>
              <a:buSzPct val="100000"/>
              <a:buChar char="▪"/>
              <a:defRPr sz="1000" b="0">
                <a:solidFill>
                  <a:srgbClr val="1B2A2E"/>
                </a:solidFill>
                <a:latin typeface="Calibri"/>
              </a:defRPr>
            </a:pPr>
            <a:r>
              <a:rPr sz="1000" b="0">
                <a:solidFill>
                  <a:srgbClr val="1B2A2E"/>
                </a:solidFill>
                <a:latin typeface="Calibri"/>
              </a:rPr>
              <a:t>Mongoose ODM: Strict data modeling, validation schemas, and auto-seeding</a:t>
            </a:r>
            <a:endParaRPr lang="en-US" sz="1300" dirty="0"/>
          </a:p>
          <a:p>
            <a:pPr marL="342900" indent="-342900" algn="l">
              <a:spcAft>
                <a:spcPts val="400"/>
              </a:spcAft>
              <a:buSzPct val="100000"/>
              <a:buChar char="▪"/>
              <a:defRPr sz="1000" b="0">
                <a:solidFill>
                  <a:srgbClr val="1B2A2E"/>
                </a:solidFill>
                <a:latin typeface="Calibri"/>
              </a:defRPr>
            </a:pPr>
            <a:r>
              <a:rPr sz="1000" b="0">
                <a:solidFill>
                  <a:srgbClr val="1B2A2E"/>
                </a:solidFill>
                <a:latin typeface="Calibri"/>
              </a:rPr>
              <a:t>Vanilla CSS Design System: High-density Bento cards, hairline slate borders &amp; responsive layouts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6245352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defRPr sz="1000" b="0">
                <a:solidFill>
                  <a:srgbClr val="7A8F8C"/>
                </a:solidFill>
                <a:latin typeface="Calibri"/>
              </a:defRPr>
            </a:pPr>
            <a:r>
              <a:rPr sz="1000" b="0">
                <a:solidFill>
                  <a:srgbClr val="7A8F8C"/>
                </a:solidFill>
                <a:latin typeface="Calibri"/>
              </a:rPr>
              <a:t>Review 1 &amp; 2  |  Equipment Health &amp; Maintenance Monitor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57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DESIGN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713232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 sz="1800" b="1">
                <a:solidFill>
                  <a:srgbClr val="1B2A2E"/>
                </a:solidFill>
                <a:latin typeface="Cambria"/>
              </a:defRPr>
            </a:pPr>
            <a:r>
              <a:rPr sz="1800" b="1">
                <a:solidFill>
                  <a:srgbClr val="1B2A2E"/>
                </a:solidFill>
                <a:latin typeface="Cambria"/>
              </a:rPr>
              <a:t>User Interface Design &amp; Layout</a:t>
            </a:r>
          </a:p>
        </p:txBody>
      </p:sp>
      <p:sp>
        <p:nvSpPr>
          <p:cNvPr id="6" name="Shape 4"/>
          <p:cNvSpPr/>
          <p:nvPr/>
        </p:nvSpPr>
        <p:spPr>
          <a:xfrm>
            <a:off x="1097280" y="1371600"/>
            <a:ext cx="10607040" cy="0"/>
          </a:xfrm>
          <a:prstGeom prst="line">
            <a:avLst/>
          </a:prstGeom>
          <a:noFill/>
          <a:ln w="12700">
            <a:solidFill>
              <a:srgbClr val="D7E7E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97280" y="1737360"/>
            <a:ext cx="6035040" cy="4114800"/>
          </a:xfrm>
          <a:prstGeom prst="roundRect">
            <a:avLst>
              <a:gd name="adj" fmla="val 1778"/>
            </a:avLst>
          </a:prstGeom>
          <a:solidFill>
            <a:srgbClr val="F4FAF9"/>
          </a:solidFill>
          <a:ln w="19050">
            <a:solidFill>
              <a:srgbClr val="00A896"/>
            </a:solidFill>
            <a:prstDash val="dash"/>
          </a:ln>
        </p:spPr>
      </p:sp>
      <p:sp>
        <p:nvSpPr>
          <p:cNvPr id="8" name="Text 6"/>
          <p:cNvSpPr txBox="1"/>
          <p:nvPr/>
        </p:nvSpPr>
        <p:spPr>
          <a:xfrm>
            <a:off x="1280160" y="3474720"/>
            <a:ext cx="5669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400"/>
              </a:spcAft>
              <a:buNone/>
              <a:defRPr sz="900" b="0">
                <a:solidFill>
                  <a:srgbClr val="1B2A2E"/>
                </a:solidFill>
                <a:latin typeface="Calibri"/>
              </a:defRPr>
            </a:pPr>
            <a:r>
              <a:rPr sz="900" b="0">
                <a:solidFill>
                  <a:srgbClr val="1B2A2E"/>
                </a:solidFill>
                <a:latin typeface="Calibri"/>
              </a:rPr>
              <a:t>High-Density Industrial Bento Grid:</a:t>
            </a:r>
            <a:endParaRPr lang="en-US" sz="1400" dirty="0"/>
          </a:p>
          <a:p>
            <a:pPr marL="0" indent="0" algn="l">
              <a:spcAft>
                <a:spcPts val="400"/>
              </a:spcAft>
              <a:buNone/>
              <a:defRPr sz="900" b="0">
                <a:solidFill>
                  <a:srgbClr val="1B2A2E"/>
                </a:solidFill>
                <a:latin typeface="Calibri"/>
              </a:defRPr>
            </a:pPr>
            <a:r>
              <a:rPr sz="900" b="0">
                <a:solidFill>
                  <a:srgbClr val="1B2A2E"/>
                </a:solidFill>
                <a:latin typeface="Calibri"/>
              </a:rPr>
              <a:t>  - 4 core KPI metric cards: Overall Health %, Active Alerts, Needs Service Soon, and Scheduled Repairs.</a:t>
            </a:r>
            <a:endParaRPr lang="en-US" sz="1400" dirty="0"/>
          </a:p>
          <a:p>
            <a:pPr algn="l">
              <a:spcAft>
                <a:spcPts val="400"/>
              </a:spcAft>
              <a:buNone/>
              <a:defRPr sz="900" b="0">
                <a:solidFill>
                  <a:srgbClr val="1B2A2E"/>
                </a:solidFill>
                <a:latin typeface="Calibri"/>
              </a:defRPr>
            </a:pPr>
            <a:r>
              <a:rPr sz="900" b="0">
                <a:solidFill>
                  <a:srgbClr val="1B2A2E"/>
                </a:solidFill>
                <a:latin typeface="Calibri"/>
              </a:rPr>
              <a:t>  - Real-time cubic Bezier spline area chart with dashed red threshold limit line (4.5 mm/s).</a:t>
            </a:r>
          </a:p>
          <a:p>
            <a:pPr algn="l">
              <a:spcAft>
                <a:spcPts val="400"/>
              </a:spcAft>
              <a:buNone/>
              <a:defRPr sz="900" b="0">
                <a:solidFill>
                  <a:srgbClr val="1B2A2E"/>
                </a:solidFill>
                <a:latin typeface="Calibri"/>
              </a:defRPr>
            </a:pPr>
            <a:r>
              <a:rPr sz="900" b="0">
                <a:solidFill>
                  <a:srgbClr val="1B2A2E"/>
                </a:solidFill>
                <a:latin typeface="Calibri"/>
              </a:rPr>
              <a:t>  - Floating Simulation Cockpit docked unobtrusively at top right for 1-click testability.</a:t>
            </a:r>
          </a:p>
          <a:p>
            <a:pPr algn="l">
              <a:spcAft>
                <a:spcPts val="400"/>
              </a:spcAft>
              <a:buNone/>
              <a:defRPr sz="900" b="0">
                <a:solidFill>
                  <a:srgbClr val="1B2A2E"/>
                </a:solidFill>
                <a:latin typeface="Calibri"/>
              </a:defRPr>
            </a:pPr>
          </a:p>
          <a:p>
            <a:pPr algn="l">
              <a:spcAft>
                <a:spcPts val="400"/>
              </a:spcAft>
              <a:buNone/>
              <a:defRPr sz="900" b="0">
                <a:solidFill>
                  <a:srgbClr val="1B2A2E"/>
                </a:solidFill>
                <a:latin typeface="Calibri"/>
              </a:defRPr>
            </a:pPr>
            <a:r>
              <a:rPr sz="900" b="0">
                <a:solidFill>
                  <a:srgbClr val="1B2A2E"/>
                </a:solidFill>
                <a:latin typeface="Calibri"/>
              </a:rPr>
              <a:t>Interactive Operational Workflows:</a:t>
            </a:r>
          </a:p>
          <a:p>
            <a:pPr algn="l">
              <a:spcAft>
                <a:spcPts val="400"/>
              </a:spcAft>
              <a:buNone/>
              <a:defRPr sz="900" b="0">
                <a:solidFill>
                  <a:srgbClr val="1B2A2E"/>
                </a:solidFill>
                <a:latin typeface="Calibri"/>
              </a:defRPr>
            </a:pPr>
            <a:r>
              <a:rPr sz="900" b="0">
                <a:solidFill>
                  <a:srgbClr val="1B2A2E"/>
                </a:solidFill>
                <a:latin typeface="Calibri"/>
              </a:rPr>
              <a:t>  - Dynamic Alert Banner: Displays active anomalies with severity badges and action buttons.</a:t>
            </a:r>
          </a:p>
          <a:p>
            <a:pPr algn="l">
              <a:spcAft>
                <a:spcPts val="400"/>
              </a:spcAft>
              <a:buNone/>
              <a:defRPr sz="900" b="0">
                <a:solidFill>
                  <a:srgbClr val="1B2A2E"/>
                </a:solidFill>
                <a:latin typeface="Calibri"/>
              </a:defRPr>
            </a:pPr>
            <a:r>
              <a:rPr sz="900" b="0">
                <a:solidFill>
                  <a:srgbClr val="1B2A2E"/>
                </a:solidFill>
                <a:latin typeface="Calibri"/>
              </a:rPr>
              <a:t>  - 1-Click Resolve: Instantaneous alert dismissal and physical machine restoration to 96% health.</a:t>
            </a:r>
          </a:p>
          <a:p>
            <a:pPr algn="l">
              <a:spcAft>
                <a:spcPts val="400"/>
              </a:spcAft>
              <a:buNone/>
              <a:defRPr sz="900" b="0">
                <a:solidFill>
                  <a:srgbClr val="1B2A2E"/>
                </a:solidFill>
                <a:latin typeface="Calibri"/>
              </a:defRPr>
            </a:pPr>
            <a:r>
              <a:rPr sz="900" b="0">
                <a:solidFill>
                  <a:srgbClr val="1B2A2E"/>
                </a:solidFill>
                <a:latin typeface="Calibri"/>
              </a:rPr>
              <a:t>  - Schedule Equipment Repair: Pre-populates machine, failure mode &amp; OEM parts kit.</a:t>
            </a:r>
          </a:p>
          <a:p>
            <a:pPr algn="l">
              <a:spcAft>
                <a:spcPts val="400"/>
              </a:spcAft>
              <a:buNone/>
              <a:defRPr sz="900" b="0">
                <a:solidFill>
                  <a:srgbClr val="1B2A2E"/>
                </a:solidFill>
                <a:latin typeface="Calibri"/>
              </a:defRPr>
            </a:pPr>
            <a:r>
              <a:rPr sz="900" b="0">
                <a:solidFill>
                  <a:srgbClr val="1B2A2E"/>
                </a:solidFill>
                <a:latin typeface="Calibri"/>
              </a:rPr>
              <a:t>  - Anomaly Explainability Modal: Visual feature attribution contribution bars.</a:t>
            </a:r>
          </a:p>
        </p:txBody>
      </p:sp>
      <p:sp>
        <p:nvSpPr>
          <p:cNvPr id="9" name="Shape 7"/>
          <p:cNvSpPr/>
          <p:nvPr/>
        </p:nvSpPr>
        <p:spPr>
          <a:xfrm>
            <a:off x="7406640" y="1737360"/>
            <a:ext cx="3657600" cy="41148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7E7E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635240" y="19202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Design Tokens</a:t>
            </a:r>
          </a:p>
        </p:txBody>
      </p:sp>
      <p:sp>
        <p:nvSpPr>
          <p:cNvPr id="11" name="Text 9"/>
          <p:cNvSpPr txBox="1"/>
          <p:nvPr/>
        </p:nvSpPr>
        <p:spPr>
          <a:xfrm>
            <a:off x="7635240" y="2331720"/>
            <a:ext cx="32004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 algn="l">
              <a:spcAft>
                <a:spcPts val="400"/>
              </a:spcAft>
              <a:buSzPct val="100000"/>
              <a:buChar char="▪"/>
              <a:defRPr sz="900" b="0">
                <a:solidFill>
                  <a:srgbClr val="1B2A2E"/>
                </a:solidFill>
                <a:latin typeface="Calibri"/>
              </a:defRPr>
            </a:pPr>
            <a:r>
              <a:rPr sz="900" b="0">
                <a:solidFill>
                  <a:srgbClr val="1B2A2E"/>
                </a:solidFill>
                <a:latin typeface="Calibri"/>
              </a:rPr>
              <a:t>Light theme inspired by STRATIS</a:t>
            </a:r>
            <a:endParaRPr lang="en-US" sz="1200" dirty="0"/>
          </a:p>
          <a:p>
            <a:pPr marL="342900" indent="-342900" algn="l">
              <a:spcAft>
                <a:spcPts val="400"/>
              </a:spcAft>
              <a:buSzPct val="100000"/>
              <a:buChar char="▪"/>
              <a:defRPr sz="900" b="0">
                <a:solidFill>
                  <a:srgbClr val="1B2A2E"/>
                </a:solidFill>
                <a:latin typeface="Calibri"/>
              </a:defRPr>
            </a:pPr>
            <a:r>
              <a:rPr sz="900" b="0">
                <a:solidFill>
                  <a:srgbClr val="1B2A2E"/>
                </a:solidFill>
                <a:latin typeface="Calibri"/>
              </a:rPr>
              <a:t>Primary Accent: Industrial Orange (#ea580c)</a:t>
            </a:r>
            <a:endParaRPr lang="en-US" sz="1200" dirty="0"/>
          </a:p>
          <a:p>
            <a:pPr marL="342900" indent="-342900" algn="l">
              <a:spcAft>
                <a:spcPts val="400"/>
              </a:spcAft>
              <a:buSzPct val="100000"/>
              <a:buChar char="▪"/>
              <a:defRPr sz="900" b="0">
                <a:solidFill>
                  <a:srgbClr val="1B2A2E"/>
                </a:solidFill>
                <a:latin typeface="Calibri"/>
              </a:defRPr>
            </a:pPr>
            <a:r>
              <a:rPr sz="900" b="0">
                <a:solidFill>
                  <a:srgbClr val="1B2A2E"/>
                </a:solidFill>
                <a:latin typeface="Calibri"/>
              </a:rPr>
              <a:t>Health Green: #059669 &amp; Hazard Red: #dc2626</a:t>
            </a:r>
            <a:endParaRPr lang="en-US" sz="1200" dirty="0"/>
          </a:p>
          <a:p>
            <a:pPr marL="342900" indent="-342900" algn="l">
              <a:spcAft>
                <a:spcPts val="400"/>
              </a:spcAft>
              <a:buSzPct val="100000"/>
              <a:buChar char="▪"/>
              <a:defRPr sz="900" b="0">
                <a:solidFill>
                  <a:srgbClr val="1B2A2E"/>
                </a:solidFill>
                <a:latin typeface="Calibri"/>
              </a:defRPr>
            </a:pPr>
            <a:r>
              <a:rPr sz="900" b="0">
                <a:solidFill>
                  <a:srgbClr val="1B2A2E"/>
                </a:solidFill>
                <a:latin typeface="Calibri"/>
              </a:rPr>
              <a:t>Hairline slate borders: #e2e8f0</a:t>
            </a:r>
            <a:endParaRPr lang="en-US" sz="1200" dirty="0"/>
          </a:p>
          <a:p>
            <a:pPr marL="342900" indent="-342900" algn="l">
              <a:spcAft>
                <a:spcPts val="400"/>
              </a:spcAft>
              <a:buSzPct val="100000"/>
              <a:buChar char="▪"/>
              <a:defRPr sz="900" b="0">
                <a:solidFill>
                  <a:srgbClr val="1B2A2E"/>
                </a:solidFill>
                <a:latin typeface="Calibri"/>
              </a:defRPr>
            </a:pPr>
            <a:r>
              <a:rPr sz="900" b="0">
                <a:solidFill>
                  <a:srgbClr val="1B2A2E"/>
                </a:solidFill>
                <a:latin typeface="Calibri"/>
              </a:rPr>
              <a:t>Typography: Plus Jakarta Sans</a:t>
            </a:r>
            <a:endParaRPr lang="en-US" sz="1200" dirty="0"/>
          </a:p>
          <a:p>
            <a:pPr algn="l">
              <a:spcAft>
                <a:spcPts val="400"/>
              </a:spcAft>
              <a:buSzPct val="100000"/>
              <a:buChar char="▪"/>
              <a:defRPr sz="900" b="0">
                <a:solidFill>
                  <a:srgbClr val="1B2A2E"/>
                </a:solidFill>
                <a:latin typeface="Calibri"/>
              </a:defRPr>
            </a:pPr>
            <a:r>
              <a:rPr sz="900" b="0">
                <a:solidFill>
                  <a:srgbClr val="1B2A2E"/>
                </a:solidFill>
                <a:latin typeface="Calibri"/>
              </a:rPr>
              <a:t>Monospace readings: JetBrains Mono</a:t>
            </a:r>
          </a:p>
        </p:txBody>
      </p:sp>
      <p:sp>
        <p:nvSpPr>
          <p:cNvPr id="12" name="Text 10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Design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6245352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defRPr sz="1000" b="0">
                <a:solidFill>
                  <a:srgbClr val="7A8F8C"/>
                </a:solidFill>
                <a:latin typeface="Calibri"/>
              </a:defRPr>
            </a:pPr>
            <a:r>
              <a:rPr sz="1000" b="0">
                <a:solidFill>
                  <a:srgbClr val="7A8F8C"/>
                </a:solidFill>
                <a:latin typeface="Calibri"/>
              </a:rPr>
              <a:t>Review 1 &amp; 2  |  Equipment Health &amp; Maintenance Monitor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57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713232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 sz="1800" b="1">
                <a:solidFill>
                  <a:srgbClr val="1B2A2E"/>
                </a:solidFill>
                <a:latin typeface="Cambria"/>
              </a:defRPr>
            </a:pPr>
            <a:r>
              <a:rPr sz="1800" b="1">
                <a:solidFill>
                  <a:srgbClr val="1B2A2E"/>
                </a:solidFill>
                <a:latin typeface="Cambria"/>
              </a:rPr>
              <a:t>Frontend Implementation Architecture</a:t>
            </a:r>
          </a:p>
        </p:txBody>
      </p:sp>
      <p:sp>
        <p:nvSpPr>
          <p:cNvPr id="6" name="Shape 4"/>
          <p:cNvSpPr/>
          <p:nvPr/>
        </p:nvSpPr>
        <p:spPr>
          <a:xfrm>
            <a:off x="1097280" y="1371600"/>
            <a:ext cx="10607040" cy="0"/>
          </a:xfrm>
          <a:prstGeom prst="line">
            <a:avLst/>
          </a:prstGeom>
          <a:noFill/>
          <a:ln w="12700">
            <a:solidFill>
              <a:srgbClr val="D7E7E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97280" y="1691640"/>
            <a:ext cx="987552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 algn="l">
              <a:spcAft>
                <a:spcPts val="400"/>
              </a:spcAft>
              <a:buSzPct val="100000"/>
              <a:buChar char="▪"/>
              <a:defRPr sz="1050" b="0">
                <a:solidFill>
                  <a:srgbClr val="1B2A2E"/>
                </a:solidFill>
                <a:latin typeface="Calibri"/>
              </a:defRPr>
            </a:pPr>
            <a:r>
              <a:rPr sz="1050" b="0">
                <a:solidFill>
                  <a:srgbClr val="1B2A2E"/>
                </a:solidFill>
                <a:latin typeface="Calibri"/>
              </a:rPr>
              <a:t>Built with React 18, Vite, and modular functional components with custom hooks.</a:t>
            </a:r>
            <a:endParaRPr lang="en-US" sz="1500" dirty="0"/>
          </a:p>
          <a:p>
            <a:pPr marL="342900" indent="-342900" algn="l">
              <a:spcAft>
                <a:spcPts val="400"/>
              </a:spcAft>
              <a:buSzPct val="100000"/>
              <a:buChar char="▪"/>
              <a:defRPr sz="1050" b="0">
                <a:solidFill>
                  <a:srgbClr val="1B2A2E"/>
                </a:solidFill>
                <a:latin typeface="Calibri"/>
              </a:defRPr>
            </a:pPr>
            <a:r>
              <a:rPr sz="1050" b="0">
                <a:solidFill>
                  <a:srgbClr val="1B2A2E"/>
                </a:solidFill>
                <a:latin typeface="Calibri"/>
              </a:rPr>
              <a:t>Custom SVG Spline Engine: Dynamically generates smooth cubic Bezier paths without heavy charting libraries.</a:t>
            </a:r>
            <a:endParaRPr lang="en-US" sz="1500" dirty="0"/>
          </a:p>
          <a:p>
            <a:pPr marL="342900" indent="-342900" algn="l">
              <a:spcAft>
                <a:spcPts val="400"/>
              </a:spcAft>
              <a:buSzPct val="100000"/>
              <a:buChar char="▪"/>
              <a:defRPr sz="1050" b="0">
                <a:solidFill>
                  <a:srgbClr val="1B2A2E"/>
                </a:solidFill>
                <a:latin typeface="Calibri"/>
              </a:defRPr>
            </a:pPr>
            <a:r>
              <a:rPr sz="1050" b="0">
                <a:solidFill>
                  <a:srgbClr val="1B2A2E"/>
                </a:solidFill>
                <a:latin typeface="Calibri"/>
              </a:rPr>
              <a:t>Auto-Zoom Scaling: Computes min/max bounds with padding to amplify subtle telemetry oscillations.</a:t>
            </a:r>
            <a:endParaRPr lang="en-US" sz="1500" dirty="0"/>
          </a:p>
          <a:p>
            <a:pPr marL="342900" indent="-342900" algn="l">
              <a:spcAft>
                <a:spcPts val="400"/>
              </a:spcAft>
              <a:buSzPct val="100000"/>
              <a:buChar char="▪"/>
              <a:defRPr sz="1050" b="0">
                <a:solidFill>
                  <a:srgbClr val="1B2A2E"/>
                </a:solidFill>
                <a:latin typeface="Calibri"/>
              </a:defRPr>
            </a:pPr>
            <a:r>
              <a:rPr sz="1050" b="0">
                <a:solidFill>
                  <a:srgbClr val="1B2A2E"/>
                </a:solidFill>
                <a:latin typeface="Calibri"/>
              </a:rPr>
              <a:t>Automated Machine Auto-Focus: Instantly snaps waveform view to any machine experiencing an alert.</a:t>
            </a:r>
            <a:endParaRPr lang="en-US" sz="1500" dirty="0"/>
          </a:p>
          <a:p>
            <a:pPr marL="342900" indent="-342900" algn="l">
              <a:spcAft>
                <a:spcPts val="400"/>
              </a:spcAft>
              <a:buSzPct val="100000"/>
              <a:buChar char="▪"/>
              <a:defRPr sz="1050" b="0">
                <a:solidFill>
                  <a:srgbClr val="1B2A2E"/>
                </a:solidFill>
                <a:latin typeface="Calibri"/>
              </a:defRPr>
            </a:pPr>
            <a:r>
              <a:rPr sz="1050" b="0">
                <a:solidFill>
                  <a:srgbClr val="1B2A2E"/>
                </a:solidFill>
                <a:latin typeface="Calibri"/>
              </a:rPr>
              <a:t>WebSocket State Synchronization: Listens for telemetry:stream, alert:new, and machine:update events.</a:t>
            </a:r>
            <a:endParaRPr lang="en-US" sz="1500" dirty="0"/>
          </a:p>
          <a:p>
            <a:pPr marL="342900" indent="-342900" algn="l">
              <a:spcAft>
                <a:spcPts val="400"/>
              </a:spcAft>
              <a:buSzPct val="100000"/>
              <a:buChar char="▪"/>
              <a:defRPr sz="1050" b="0">
                <a:solidFill>
                  <a:srgbClr val="1B2A2E"/>
                </a:solidFill>
                <a:latin typeface="Calibri"/>
              </a:defRPr>
            </a:pPr>
            <a:r>
              <a:rPr sz="1050" b="0">
                <a:solidFill>
                  <a:srgbClr val="1B2A2E"/>
                </a:solidFill>
                <a:latin typeface="Calibri"/>
              </a:rPr>
              <a:t>Strict Layout Resiliency: flex-shrink: 0 applied to panels ensuring zero clipping across all screen sizes.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1097280" y="5623560"/>
            <a:ext cx="9966960" cy="594360"/>
          </a:xfrm>
          <a:prstGeom prst="roundRect">
            <a:avLst>
              <a:gd name="adj" fmla="val 12308"/>
            </a:avLst>
          </a:prstGeom>
          <a:solidFill>
            <a:srgbClr val="F4FAF9"/>
          </a:solidFill>
          <a:ln w="12700">
            <a:solidFill>
              <a:srgbClr val="D7E7E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325880" y="5623560"/>
            <a:ext cx="9509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Completed Views: Overview Dashboard, Machine Diagnostics Roster, Estimated Operating Life (RUL), Equipment Alerts, Scheduled Repairs &amp; Tasks, Live Telemetry Charts.</a:t>
            </a:r>
          </a:p>
        </p:txBody>
      </p:sp>
      <p:sp>
        <p:nvSpPr>
          <p:cNvPr id="10" name="Text 8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6245352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defRPr sz="1000" b="0">
                <a:solidFill>
                  <a:srgbClr val="7A8F8C"/>
                </a:solidFill>
                <a:latin typeface="Calibri"/>
              </a:defRPr>
            </a:pPr>
            <a:r>
              <a:rPr sz="1000" b="0">
                <a:solidFill>
                  <a:srgbClr val="7A8F8C"/>
                </a:solidFill>
                <a:latin typeface="Calibri"/>
              </a:rPr>
              <a:t>Review 1 &amp; 2  |  Equipment Health &amp; Maintenance Monitor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57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713232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 sz="1800" b="1">
                <a:solidFill>
                  <a:srgbClr val="1B2A2E"/>
                </a:solidFill>
                <a:latin typeface="Cambria"/>
              </a:defRPr>
            </a:pPr>
            <a:r>
              <a:rPr sz="1800" b="1">
                <a:solidFill>
                  <a:srgbClr val="1B2A2E"/>
                </a:solidFill>
                <a:latin typeface="Cambria"/>
              </a:rPr>
              <a:t>Backend Architecture &amp; Real-Time Engine</a:t>
            </a:r>
          </a:p>
        </p:txBody>
      </p:sp>
      <p:sp>
        <p:nvSpPr>
          <p:cNvPr id="6" name="Shape 4"/>
          <p:cNvSpPr/>
          <p:nvPr/>
        </p:nvSpPr>
        <p:spPr>
          <a:xfrm>
            <a:off x="1097280" y="1371600"/>
            <a:ext cx="10607040" cy="0"/>
          </a:xfrm>
          <a:prstGeom prst="line">
            <a:avLst/>
          </a:prstGeom>
          <a:noFill/>
          <a:ln w="12700">
            <a:solidFill>
              <a:srgbClr val="D7E7E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97280" y="1691640"/>
            <a:ext cx="987552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 algn="l">
              <a:spcAft>
                <a:spcPts val="400"/>
              </a:spcAft>
              <a:buSzPct val="100000"/>
              <a:buChar char="▪"/>
              <a:defRPr sz="1050" b="0">
                <a:solidFill>
                  <a:srgbClr val="1B2A2E"/>
                </a:solidFill>
                <a:latin typeface="Calibri"/>
              </a:defRPr>
            </a:pPr>
            <a:r>
              <a:rPr sz="1050" b="0">
                <a:solidFill>
                  <a:srgbClr val="1B2A2E"/>
                </a:solidFill>
                <a:latin typeface="Calibri"/>
              </a:rPr>
              <a:t>Node.js + Express HTTP server seamlessly integrated with Socket.io WebSocket instance.</a:t>
            </a:r>
            <a:endParaRPr lang="en-US" sz="1500" dirty="0"/>
          </a:p>
          <a:p>
            <a:pPr marL="342900" indent="-342900" algn="l">
              <a:spcAft>
                <a:spcPts val="400"/>
              </a:spcAft>
              <a:buSzPct val="100000"/>
              <a:buChar char="▪"/>
              <a:defRPr sz="1050" b="0">
                <a:solidFill>
                  <a:srgbClr val="1B2A2E"/>
                </a:solidFill>
                <a:latin typeface="Calibri"/>
              </a:defRPr>
            </a:pPr>
            <a:r>
              <a:rPr sz="1050" b="0">
                <a:solidFill>
                  <a:srgbClr val="1B2A2E"/>
                </a:solidFill>
                <a:latin typeface="Calibri"/>
              </a:rPr>
              <a:t>Telemetry Simulator Service: Generates 3s heartbeats with dynamic wave math and randomized physical noise.</a:t>
            </a:r>
            <a:endParaRPr lang="en-US" sz="1500" dirty="0"/>
          </a:p>
          <a:p>
            <a:pPr marL="342900" indent="-342900" algn="l">
              <a:spcAft>
                <a:spcPts val="400"/>
              </a:spcAft>
              <a:buSzPct val="100000"/>
              <a:buChar char="▪"/>
              <a:defRPr sz="1050" b="0">
                <a:solidFill>
                  <a:srgbClr val="1B2A2E"/>
                </a:solidFill>
                <a:latin typeface="Calibri"/>
              </a:defRPr>
            </a:pPr>
            <a:r>
              <a:rPr sz="1050" b="0">
                <a:solidFill>
                  <a:srgbClr val="1B2A2E"/>
                </a:solidFill>
                <a:latin typeface="Calibri"/>
              </a:rPr>
              <a:t>Scenario Injection Router: POST /api/simulator/scenario executes deterministic plant fault injection.</a:t>
            </a:r>
            <a:endParaRPr lang="en-US" sz="1500" dirty="0"/>
          </a:p>
          <a:p>
            <a:pPr marL="342900" indent="-342900" algn="l">
              <a:spcAft>
                <a:spcPts val="400"/>
              </a:spcAft>
              <a:buSzPct val="100000"/>
              <a:buChar char="▪"/>
              <a:defRPr sz="1050" b="0">
                <a:solidFill>
                  <a:srgbClr val="1B2A2E"/>
                </a:solidFill>
                <a:latin typeface="Calibri"/>
              </a:defRPr>
            </a:pPr>
            <a:r>
              <a:rPr sz="1050" b="0">
                <a:solidFill>
                  <a:srgbClr val="1B2A2E"/>
                </a:solidFill>
                <a:latin typeface="Calibri"/>
              </a:rPr>
              <a:t>Closed-Loop Resolution API: PATCH /api/alerts/:id/resolve restores nominal baselines and broadcasts recovery.</a:t>
            </a:r>
            <a:endParaRPr lang="en-US" sz="1500" dirty="0"/>
          </a:p>
          <a:p>
            <a:pPr marL="342900" indent="-342900" algn="l">
              <a:spcAft>
                <a:spcPts val="400"/>
              </a:spcAft>
              <a:buSzPct val="100000"/>
              <a:buChar char="▪"/>
              <a:defRPr sz="1050" b="0">
                <a:solidFill>
                  <a:srgbClr val="1B2A2E"/>
                </a:solidFill>
                <a:latin typeface="Calibri"/>
              </a:defRPr>
            </a:pPr>
            <a:r>
              <a:rPr sz="1050" b="0">
                <a:solidFill>
                  <a:srgbClr val="1B2A2E"/>
                </a:solidFill>
                <a:latin typeface="Calibri"/>
              </a:rPr>
              <a:t>Work Order Lifecycle Management: Handles creation, technician assignment, and sign-off completion.</a:t>
            </a:r>
            <a:endParaRPr lang="en-US" sz="1500" dirty="0"/>
          </a:p>
          <a:p>
            <a:pPr marL="342900" indent="-342900" algn="l">
              <a:spcAft>
                <a:spcPts val="400"/>
              </a:spcAft>
              <a:buSzPct val="100000"/>
              <a:buChar char="▪"/>
              <a:defRPr sz="1050" b="0">
                <a:solidFill>
                  <a:srgbClr val="1B2A2E"/>
                </a:solidFill>
                <a:latin typeface="Calibri"/>
              </a:defRPr>
            </a:pPr>
            <a:r>
              <a:rPr sz="1050" b="0">
                <a:solidFill>
                  <a:srgbClr val="1B2A2E"/>
                </a:solidFill>
                <a:latin typeface="Calibri"/>
              </a:rPr>
              <a:t>Multi-Alert Integrity Guard: Evaluates outstanding machine alarms before restoring healthy status.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1097280" y="5623560"/>
            <a:ext cx="9966960" cy="594360"/>
          </a:xfrm>
          <a:prstGeom prst="roundRect">
            <a:avLst>
              <a:gd name="adj" fmla="val 12308"/>
            </a:avLst>
          </a:prstGeom>
          <a:solidFill>
            <a:srgbClr val="F4FAF9"/>
          </a:solidFill>
          <a:ln w="12700">
            <a:solidFill>
              <a:srgbClr val="D7E7E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325880" y="5623560"/>
            <a:ext cx="9509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Backend Endpoints: /api/overview, /api/machines, /api/simulator/scenario, /api/alerts/:id/resolve, /api/work-orders, /api/telemetry.</a:t>
            </a:r>
          </a:p>
        </p:txBody>
      </p:sp>
      <p:sp>
        <p:nvSpPr>
          <p:cNvPr id="10" name="Text 8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6245352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defRPr sz="1000" b="0">
                <a:solidFill>
                  <a:srgbClr val="7A8F8C"/>
                </a:solidFill>
                <a:latin typeface="Calibri"/>
              </a:defRPr>
            </a:pPr>
            <a:r>
              <a:rPr sz="1000" b="0">
                <a:solidFill>
                  <a:srgbClr val="7A8F8C"/>
                </a:solidFill>
                <a:latin typeface="Calibri"/>
              </a:rPr>
              <a:t>Review 1 &amp; 2  |  Equipment Health &amp; Maintenance Monitor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57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713232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 sz="1800" b="1">
                <a:solidFill>
                  <a:srgbClr val="1B2A2E"/>
                </a:solidFill>
                <a:latin typeface="Cambria"/>
              </a:defRPr>
            </a:pPr>
            <a:r>
              <a:rPr sz="1800" b="1">
                <a:solidFill>
                  <a:srgbClr val="1B2A2E"/>
                </a:solidFill>
                <a:latin typeface="Cambria"/>
              </a:rPr>
              <a:t>Database Integration &amp; Schema Management</a:t>
            </a:r>
          </a:p>
        </p:txBody>
      </p:sp>
      <p:sp>
        <p:nvSpPr>
          <p:cNvPr id="6" name="Shape 4"/>
          <p:cNvSpPr/>
          <p:nvPr/>
        </p:nvSpPr>
        <p:spPr>
          <a:xfrm>
            <a:off x="1097280" y="1371600"/>
            <a:ext cx="10607040" cy="0"/>
          </a:xfrm>
          <a:prstGeom prst="line">
            <a:avLst/>
          </a:prstGeom>
          <a:noFill/>
          <a:ln w="12700">
            <a:solidFill>
              <a:srgbClr val="D7E7E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97280" y="1691640"/>
            <a:ext cx="987552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 algn="l">
              <a:spcAft>
                <a:spcPts val="400"/>
              </a:spcAft>
              <a:buSzPct val="100000"/>
              <a:buChar char="▪"/>
              <a:defRPr sz="1050" b="0">
                <a:solidFill>
                  <a:srgbClr val="1B2A2E"/>
                </a:solidFill>
                <a:latin typeface="Calibri"/>
              </a:defRPr>
            </a:pPr>
            <a:r>
              <a:rPr sz="1050" b="0">
                <a:solidFill>
                  <a:srgbClr val="1B2A2E"/>
                </a:solidFill>
                <a:latin typeface="Calibri"/>
              </a:rPr>
              <a:t>Containerized MongoDB 6.0 with persistent volumes configured via Docker Compose.</a:t>
            </a:r>
            <a:endParaRPr lang="en-US" sz="1500" dirty="0"/>
          </a:p>
          <a:p>
            <a:pPr marL="342900" indent="-342900" algn="l">
              <a:spcAft>
                <a:spcPts val="400"/>
              </a:spcAft>
              <a:buSzPct val="100000"/>
              <a:buChar char="▪"/>
              <a:defRPr sz="1050" b="0">
                <a:solidFill>
                  <a:srgbClr val="1B2A2E"/>
                </a:solidFill>
                <a:latin typeface="Calibri"/>
              </a:defRPr>
            </a:pPr>
            <a:r>
              <a:rPr sz="1050" b="0">
                <a:solidFill>
                  <a:srgbClr val="1B2A2E"/>
                </a:solidFill>
                <a:latin typeface="Calibri"/>
              </a:rPr>
              <a:t>Mongoose ODM schemas defining strict types, validations, and default operational thresholds.</a:t>
            </a:r>
            <a:endParaRPr lang="en-US" sz="1500" dirty="0"/>
          </a:p>
          <a:p>
            <a:pPr marL="342900" indent="-342900" algn="l">
              <a:spcAft>
                <a:spcPts val="400"/>
              </a:spcAft>
              <a:buSzPct val="100000"/>
              <a:buChar char="▪"/>
              <a:defRPr sz="1050" b="0">
                <a:solidFill>
                  <a:srgbClr val="1B2A2E"/>
                </a:solidFill>
                <a:latin typeface="Calibri"/>
              </a:defRPr>
            </a:pPr>
            <a:r>
              <a:rPr sz="1050" b="0">
                <a:solidFill>
                  <a:srgbClr val="1B2A2E"/>
                </a:solidFill>
                <a:latin typeface="Calibri"/>
              </a:rPr>
              <a:t>Time-Series Telemetry Optimization: Indexed queries on (machineId, timestamp) ensure sub-10ms fetches.</a:t>
            </a:r>
            <a:endParaRPr lang="en-US" sz="1500" dirty="0"/>
          </a:p>
          <a:p>
            <a:pPr marL="342900" indent="-342900" algn="l">
              <a:spcAft>
                <a:spcPts val="400"/>
              </a:spcAft>
              <a:buSzPct val="100000"/>
              <a:buChar char="▪"/>
              <a:defRPr sz="1050" b="0">
                <a:solidFill>
                  <a:srgbClr val="1B2A2E"/>
                </a:solidFill>
                <a:latin typeface="Calibri"/>
              </a:defRPr>
            </a:pPr>
            <a:r>
              <a:rPr sz="1050" b="0">
                <a:solidFill>
                  <a:srgbClr val="1B2A2E"/>
                </a:solidFill>
                <a:latin typeface="Calibri"/>
              </a:rPr>
              <a:t>Relational Linking: Maintenance work orders formally reference origin alertId and machineId.</a:t>
            </a:r>
            <a:endParaRPr lang="en-US" sz="1500" dirty="0"/>
          </a:p>
          <a:p>
            <a:pPr marL="342900" indent="-342900" algn="l">
              <a:spcAft>
                <a:spcPts val="400"/>
              </a:spcAft>
              <a:buSzPct val="100000"/>
              <a:buChar char="▪"/>
              <a:defRPr sz="1050" b="0">
                <a:solidFill>
                  <a:srgbClr val="1B2A2E"/>
                </a:solidFill>
                <a:latin typeface="Calibri"/>
              </a:defRPr>
            </a:pPr>
            <a:r>
              <a:rPr sz="1050" b="0">
                <a:solidFill>
                  <a:srgbClr val="1B2A2E"/>
                </a:solidFill>
                <a:latin typeface="Calibri"/>
              </a:rPr>
              <a:t>Automatic Database Seeding: Checks collection count on boot and initializes realistic assets and history.</a:t>
            </a:r>
            <a:endParaRPr lang="en-US" sz="1500" dirty="0"/>
          </a:p>
          <a:p>
            <a:pPr marL="342900" indent="-342900" algn="l">
              <a:spcAft>
                <a:spcPts val="400"/>
              </a:spcAft>
              <a:buSzPct val="100000"/>
              <a:buChar char="▪"/>
              <a:defRPr sz="1050" b="0">
                <a:solidFill>
                  <a:srgbClr val="1B2A2E"/>
                </a:solidFill>
                <a:latin typeface="Calibri"/>
              </a:defRPr>
            </a:pPr>
            <a:r>
              <a:rPr sz="1050" b="0">
                <a:solidFill>
                  <a:srgbClr val="1B2A2E"/>
                </a:solidFill>
                <a:latin typeface="Calibri"/>
              </a:rPr>
              <a:t>Data Hygiene: Simulator reset purges temporary test records and restores clean engineering baselines.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1097280" y="5623560"/>
            <a:ext cx="9966960" cy="594360"/>
          </a:xfrm>
          <a:prstGeom prst="roundRect">
            <a:avLst>
              <a:gd name="adj" fmla="val 12308"/>
            </a:avLst>
          </a:prstGeom>
          <a:solidFill>
            <a:srgbClr val="F4FAF9"/>
          </a:solidFill>
          <a:ln w="12700">
            <a:solidFill>
              <a:srgbClr val="D7E7E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325880" y="5623560"/>
            <a:ext cx="9509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Active Collections: machines, telemetryreadings, anomalyalerts, maintenanceactions.</a:t>
            </a:r>
          </a:p>
        </p:txBody>
      </p:sp>
      <p:sp>
        <p:nvSpPr>
          <p:cNvPr id="10" name="Text 8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6245352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defRPr sz="1000" b="0">
                <a:solidFill>
                  <a:srgbClr val="7A8F8C"/>
                </a:solidFill>
                <a:latin typeface="Calibri"/>
              </a:defRPr>
            </a:pPr>
            <a:r>
              <a:rPr sz="1000" b="0">
                <a:solidFill>
                  <a:srgbClr val="7A8F8C"/>
                </a:solidFill>
                <a:latin typeface="Calibri"/>
              </a:rPr>
              <a:t>Review 1 &amp; 2  |  Equipment Health &amp; Maintenance Monitor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57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713232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 sz="1800" b="1">
                <a:solidFill>
                  <a:srgbClr val="1B2A2E"/>
                </a:solidFill>
                <a:latin typeface="Cambria"/>
              </a:defRPr>
            </a:pPr>
            <a:r>
              <a:rPr sz="1800" b="1">
                <a:solidFill>
                  <a:srgbClr val="1B2A2E"/>
                </a:solidFill>
                <a:latin typeface="Cambria"/>
              </a:rPr>
              <a:t>RESTful API Endpoints &amp; WebSocket Events</a:t>
            </a:r>
          </a:p>
        </p:txBody>
      </p:sp>
      <p:sp>
        <p:nvSpPr>
          <p:cNvPr id="6" name="Shape 4"/>
          <p:cNvSpPr/>
          <p:nvPr/>
        </p:nvSpPr>
        <p:spPr>
          <a:xfrm>
            <a:off x="1097280" y="1371600"/>
            <a:ext cx="10607040" cy="0"/>
          </a:xfrm>
          <a:prstGeom prst="line">
            <a:avLst/>
          </a:prstGeom>
          <a:noFill/>
          <a:ln w="12700">
            <a:solidFill>
              <a:srgbClr val="D7E7E5"/>
            </a:solidFill>
            <a:prstDash val="solid"/>
          </a:ln>
        </p:spPr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97280" y="1691640"/>
          <a:ext cx="9966960" cy="320040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49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Endpoint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defRPr sz="850" b="0">
                          <a:solidFill>
                            <a:srgbClr val="1B2A2E"/>
                          </a:solidFill>
                          <a:latin typeface="Calibri"/>
                        </a:defRPr>
                      </a:pPr>
                      <a:r>
                        <a:rPr sz="850" b="0">
                          <a:solidFill>
                            <a:srgbClr val="1B2A2E"/>
                          </a:solidFill>
                          <a:latin typeface="Calibri"/>
                        </a:rPr>
                        <a:t>GET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 b="0">
                          <a:solidFill>
                            <a:srgbClr val="1B2A2E"/>
                          </a:solidFill>
                          <a:latin typeface="Calibri"/>
                        </a:defRPr>
                      </a:pPr>
                      <a:r>
                        <a:rPr sz="850" b="0">
                          <a:solidFill>
                            <a:srgbClr val="1B2A2E"/>
                          </a:solidFill>
                          <a:latin typeface="Calibri"/>
                        </a:rPr>
                        <a:t>/api/overview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 b="0">
                          <a:solidFill>
                            <a:srgbClr val="1B2A2E"/>
                          </a:solidFill>
                          <a:latin typeface="Calibri"/>
                        </a:defRPr>
                      </a:pPr>
                      <a:r>
                        <a:rPr sz="850" b="0">
                          <a:solidFill>
                            <a:srgbClr val="1B2A2E"/>
                          </a:solidFill>
                          <a:latin typeface="Calibri"/>
                        </a:rPr>
                        <a:t>Fetches fleet KPIs: overall health %, active alerts, and critical RUL counts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defRPr sz="850" b="0">
                          <a:solidFill>
                            <a:srgbClr val="1B2A2E"/>
                          </a:solidFill>
                          <a:latin typeface="Calibri"/>
                        </a:defRPr>
                      </a:pPr>
                      <a:r>
                        <a:rPr sz="850" b="0">
                          <a:solidFill>
                            <a:srgbClr val="1B2A2E"/>
                          </a:solidFill>
                          <a:latin typeface="Calibri"/>
                        </a:rPr>
                        <a:t>POST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 b="0">
                          <a:solidFill>
                            <a:srgbClr val="1B2A2E"/>
                          </a:solidFill>
                          <a:latin typeface="Calibri"/>
                        </a:defRPr>
                      </a:pPr>
                      <a:r>
                        <a:rPr sz="850" b="0">
                          <a:solidFill>
                            <a:srgbClr val="1B2A2E"/>
                          </a:solidFill>
                          <a:latin typeface="Calibri"/>
                        </a:rPr>
                        <a:t>/api/simulator/scenario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 b="0">
                          <a:solidFill>
                            <a:srgbClr val="1B2A2E"/>
                          </a:solidFill>
                          <a:latin typeface="Calibri"/>
                        </a:defRPr>
                      </a:pPr>
                      <a:r>
                        <a:rPr sz="850" b="0">
                          <a:solidFill>
                            <a:srgbClr val="1B2A2E"/>
                          </a:solidFill>
                          <a:latin typeface="Calibri"/>
                        </a:rPr>
                        <a:t>Injects plant faults: VIBRATION_SPIKE, BEARING_DEFECT, RUL_COLLAPSE, RESET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defRPr sz="850" b="0">
                          <a:solidFill>
                            <a:srgbClr val="1B2A2E"/>
                          </a:solidFill>
                          <a:latin typeface="Calibri"/>
                        </a:defRPr>
                      </a:pPr>
                      <a:r>
                        <a:rPr sz="850" b="0">
                          <a:solidFill>
                            <a:srgbClr val="1B2A2E"/>
                          </a:solidFill>
                          <a:latin typeface="Calibri"/>
                        </a:rPr>
                        <a:t>GET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 b="0">
                          <a:solidFill>
                            <a:srgbClr val="1B2A2E"/>
                          </a:solidFill>
                          <a:latin typeface="Calibri"/>
                        </a:defRPr>
                      </a:pPr>
                      <a:r>
                        <a:rPr sz="850" b="0">
                          <a:solidFill>
                            <a:srgbClr val="1B2A2E"/>
                          </a:solidFill>
                          <a:latin typeface="Calibri"/>
                        </a:rPr>
                        <a:t>/api/machines/:id/telemetry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 b="0">
                          <a:solidFill>
                            <a:srgbClr val="1B2A2E"/>
                          </a:solidFill>
                          <a:latin typeface="Calibri"/>
                        </a:defRPr>
                      </a:pPr>
                      <a:r>
                        <a:rPr sz="850" b="0">
                          <a:solidFill>
                            <a:srgbClr val="1B2A2E"/>
                          </a:solidFill>
                          <a:latin typeface="Calibri"/>
                        </a:rPr>
                        <a:t>Returns 25-point historical telemetry buffer for real-time spline chart rendering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defRPr sz="850" b="0">
                          <a:solidFill>
                            <a:srgbClr val="1B2A2E"/>
                          </a:solidFill>
                          <a:latin typeface="Calibri"/>
                        </a:defRPr>
                      </a:pPr>
                      <a:r>
                        <a:rPr sz="850" b="0">
                          <a:solidFill>
                            <a:srgbClr val="1B2A2E"/>
                          </a:solidFill>
                          <a:latin typeface="Calibri"/>
                        </a:rPr>
                        <a:t>PATCH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 b="0">
                          <a:solidFill>
                            <a:srgbClr val="1B2A2E"/>
                          </a:solidFill>
                          <a:latin typeface="Calibri"/>
                        </a:defRPr>
                      </a:pPr>
                      <a:r>
                        <a:rPr sz="850" b="0">
                          <a:solidFill>
                            <a:srgbClr val="1B2A2E"/>
                          </a:solidFill>
                          <a:latin typeface="Calibri"/>
                        </a:rPr>
                        <a:t>/api/alerts/:id/resolve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 b="0">
                          <a:solidFill>
                            <a:srgbClr val="1B2A2E"/>
                          </a:solidFill>
                          <a:latin typeface="Calibri"/>
                        </a:defRPr>
                      </a:pPr>
                      <a:r>
                        <a:rPr sz="850" b="0">
                          <a:solidFill>
                            <a:srgbClr val="1B2A2E"/>
                          </a:solidFill>
                          <a:latin typeface="Calibri"/>
                        </a:rPr>
                        <a:t>1-Click Resolve: heals machine baseline in DB and broadcasts Socket.io update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defRPr sz="850" b="0">
                          <a:solidFill>
                            <a:srgbClr val="1B2A2E"/>
                          </a:solidFill>
                          <a:latin typeface="Calibri"/>
                        </a:defRPr>
                      </a:pPr>
                      <a:r>
                        <a:rPr sz="850" b="0">
                          <a:solidFill>
                            <a:srgbClr val="1B2A2E"/>
                          </a:solidFill>
                          <a:latin typeface="Calibri"/>
                        </a:rPr>
                        <a:t>POST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 b="0">
                          <a:solidFill>
                            <a:srgbClr val="1B2A2E"/>
                          </a:solidFill>
                          <a:latin typeface="Calibri"/>
                        </a:defRPr>
                      </a:pPr>
                      <a:r>
                        <a:rPr sz="850" b="0">
                          <a:solidFill>
                            <a:srgbClr val="1B2A2E"/>
                          </a:solidFill>
                          <a:latin typeface="Calibri"/>
                        </a:rPr>
                        <a:t>/api/work-orders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 b="0">
                          <a:solidFill>
                            <a:srgbClr val="1B2A2E"/>
                          </a:solidFill>
                          <a:latin typeface="Calibri"/>
                        </a:defRPr>
                      </a:pPr>
                      <a:r>
                        <a:rPr sz="850" b="0">
                          <a:solidFill>
                            <a:srgbClr val="1B2A2E"/>
                          </a:solidFill>
                          <a:latin typeface="Calibri"/>
                        </a:rPr>
                        <a:t>Schedules repair task with OEM parts kitting, updating alert to DISPATCHED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defRPr sz="850" b="0">
                          <a:solidFill>
                            <a:srgbClr val="1B2A2E"/>
                          </a:solidFill>
                          <a:latin typeface="Calibri"/>
                        </a:defRPr>
                      </a:pPr>
                      <a:r>
                        <a:rPr sz="850" b="0">
                          <a:solidFill>
                            <a:srgbClr val="1B2A2E"/>
                          </a:solidFill>
                          <a:latin typeface="Calibri"/>
                        </a:rPr>
                        <a:t>PATCH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 b="0">
                          <a:solidFill>
                            <a:srgbClr val="1B2A2E"/>
                          </a:solidFill>
                          <a:latin typeface="Calibri"/>
                        </a:defRPr>
                      </a:pPr>
                      <a:r>
                        <a:rPr sz="850" b="0">
                          <a:solidFill>
                            <a:srgbClr val="1B2A2E"/>
                          </a:solidFill>
                          <a:latin typeface="Calibri"/>
                        </a:rPr>
                        <a:t>/api/work-orders/:id/complete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 b="0">
                          <a:solidFill>
                            <a:srgbClr val="1B2A2E"/>
                          </a:solidFill>
                          <a:latin typeface="Calibri"/>
                        </a:defRPr>
                      </a:pPr>
                      <a:r>
                        <a:rPr sz="850" b="0">
                          <a:solidFill>
                            <a:srgbClr val="1B2A2E"/>
                          </a:solidFill>
                          <a:latin typeface="Calibri"/>
                        </a:rPr>
                        <a:t>Signs off maintenance: completes task, resolves linked alert &amp; heals machine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Text 5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6245352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defRPr sz="1000" b="0">
                <a:solidFill>
                  <a:srgbClr val="7A8F8C"/>
                </a:solidFill>
                <a:latin typeface="Calibri"/>
              </a:defRPr>
            </a:pPr>
            <a:r>
              <a:rPr sz="1000" b="0">
                <a:solidFill>
                  <a:srgbClr val="7A8F8C"/>
                </a:solidFill>
                <a:latin typeface="Calibri"/>
              </a:rPr>
              <a:t>Review 1 &amp; 2  |  Equipment Health &amp; Maintenance Monitor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57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713232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 sz="1800" b="1">
                <a:solidFill>
                  <a:srgbClr val="1B2A2E"/>
                </a:solidFill>
                <a:latin typeface="Cambria"/>
              </a:defRPr>
            </a:pPr>
            <a:r>
              <a:rPr sz="1800" b="1">
                <a:solidFill>
                  <a:srgbClr val="1B2A2E"/>
                </a:solidFill>
                <a:latin typeface="Cambria"/>
              </a:rPr>
              <a:t>Implementation Status (70% Milestone Achieved)</a:t>
            </a:r>
          </a:p>
        </p:txBody>
      </p:sp>
      <p:sp>
        <p:nvSpPr>
          <p:cNvPr id="6" name="Shape 4"/>
          <p:cNvSpPr/>
          <p:nvPr/>
        </p:nvSpPr>
        <p:spPr>
          <a:xfrm>
            <a:off x="1097280" y="1371600"/>
            <a:ext cx="10607040" cy="0"/>
          </a:xfrm>
          <a:prstGeom prst="line">
            <a:avLst/>
          </a:prstGeom>
          <a:noFill/>
          <a:ln w="12700">
            <a:solidFill>
              <a:srgbClr val="D7E7E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97280" y="182880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Real-Time Telemetry &amp; WebSockets</a:t>
            </a:r>
          </a:p>
        </p:txBody>
      </p:sp>
      <p:sp>
        <p:nvSpPr>
          <p:cNvPr id="8" name="Shape 6"/>
          <p:cNvSpPr/>
          <p:nvPr/>
        </p:nvSpPr>
        <p:spPr>
          <a:xfrm>
            <a:off x="4572000" y="1883664"/>
            <a:ext cx="5486400" cy="274320"/>
          </a:xfrm>
          <a:prstGeom prst="roundRect">
            <a:avLst>
              <a:gd name="adj" fmla="val 20000"/>
            </a:avLst>
          </a:prstGeom>
          <a:solidFill>
            <a:srgbClr val="F4FAF9"/>
          </a:solidFill>
          <a:ln w="9525">
            <a:solidFill>
              <a:srgbClr val="D7E7E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0" y="1883664"/>
            <a:ext cx="5486400" cy="274320"/>
          </a:xfrm>
          <a:prstGeom prst="roundRect">
            <a:avLst>
              <a:gd name="adj" fmla="val 20000"/>
            </a:avLst>
          </a:prstGeom>
          <a:solidFill>
            <a:srgbClr val="02C39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0149840" y="1828800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100%</a:t>
            </a:r>
          </a:p>
        </p:txBody>
      </p:sp>
      <p:sp>
        <p:nvSpPr>
          <p:cNvPr id="11" name="Text 9"/>
          <p:cNvSpPr txBox="1"/>
          <p:nvPr/>
        </p:nvSpPr>
        <p:spPr>
          <a:xfrm>
            <a:off x="1097280" y="2450592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Cubic Bezier Spline Wave Charts</a:t>
            </a:r>
          </a:p>
        </p:txBody>
      </p:sp>
      <p:sp>
        <p:nvSpPr>
          <p:cNvPr id="12" name="Shape 10"/>
          <p:cNvSpPr/>
          <p:nvPr/>
        </p:nvSpPr>
        <p:spPr>
          <a:xfrm>
            <a:off x="4572000" y="2505456"/>
            <a:ext cx="5486400" cy="274320"/>
          </a:xfrm>
          <a:prstGeom prst="roundRect">
            <a:avLst>
              <a:gd name="adj" fmla="val 20000"/>
            </a:avLst>
          </a:prstGeom>
          <a:solidFill>
            <a:srgbClr val="F4FAF9"/>
          </a:solidFill>
          <a:ln w="9525">
            <a:solidFill>
              <a:srgbClr val="D7E7E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0" y="2505456"/>
            <a:ext cx="5486400" cy="274320"/>
          </a:xfrm>
          <a:prstGeom prst="roundRect">
            <a:avLst>
              <a:gd name="adj" fmla="val 20000"/>
            </a:avLst>
          </a:prstGeom>
          <a:solidFill>
            <a:srgbClr val="02C39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0149840" y="2450592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100%</a:t>
            </a:r>
          </a:p>
        </p:txBody>
      </p:sp>
      <p:sp>
        <p:nvSpPr>
          <p:cNvPr id="15" name="Text 13"/>
          <p:cNvSpPr txBox="1"/>
          <p:nvPr/>
        </p:nvSpPr>
        <p:spPr>
          <a:xfrm>
            <a:off x="1097280" y="3072384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Anomaly Alerts &amp; 1-Click Healing</a:t>
            </a:r>
          </a:p>
        </p:txBody>
      </p:sp>
      <p:sp>
        <p:nvSpPr>
          <p:cNvPr id="16" name="Shape 14"/>
          <p:cNvSpPr/>
          <p:nvPr/>
        </p:nvSpPr>
        <p:spPr>
          <a:xfrm>
            <a:off x="4572000" y="3127248"/>
            <a:ext cx="5486400" cy="274320"/>
          </a:xfrm>
          <a:prstGeom prst="roundRect">
            <a:avLst>
              <a:gd name="adj" fmla="val 20000"/>
            </a:avLst>
          </a:prstGeom>
          <a:solidFill>
            <a:srgbClr val="F4FAF9"/>
          </a:solidFill>
          <a:ln w="9525">
            <a:solidFill>
              <a:srgbClr val="D7E7E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0" y="3127248"/>
            <a:ext cx="5486400" cy="274320"/>
          </a:xfrm>
          <a:prstGeom prst="roundRect">
            <a:avLst>
              <a:gd name="adj" fmla="val 20000"/>
            </a:avLst>
          </a:prstGeom>
          <a:solidFill>
            <a:srgbClr val="02C39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10149840" y="3072384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100%</a:t>
            </a:r>
          </a:p>
        </p:txBody>
      </p:sp>
      <p:sp>
        <p:nvSpPr>
          <p:cNvPr id="19" name="Text 17"/>
          <p:cNvSpPr txBox="1"/>
          <p:nvPr/>
        </p:nvSpPr>
        <p:spPr>
          <a:xfrm>
            <a:off x="1097280" y="3694176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Repairs &amp; Equipment Parts Kitting</a:t>
            </a:r>
          </a:p>
        </p:txBody>
      </p:sp>
      <p:sp>
        <p:nvSpPr>
          <p:cNvPr id="20" name="Shape 18"/>
          <p:cNvSpPr/>
          <p:nvPr/>
        </p:nvSpPr>
        <p:spPr>
          <a:xfrm>
            <a:off x="4572000" y="3749040"/>
            <a:ext cx="5486400" cy="274320"/>
          </a:xfrm>
          <a:prstGeom prst="roundRect">
            <a:avLst>
              <a:gd name="adj" fmla="val 20000"/>
            </a:avLst>
          </a:prstGeom>
          <a:solidFill>
            <a:srgbClr val="F4FAF9"/>
          </a:solidFill>
          <a:ln w="9525">
            <a:solidFill>
              <a:srgbClr val="D7E7E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0" y="3749040"/>
            <a:ext cx="5486400" cy="274320"/>
          </a:xfrm>
          <a:prstGeom prst="roundRect">
            <a:avLst>
              <a:gd name="adj" fmla="val 20000"/>
            </a:avLst>
          </a:prstGeom>
          <a:solidFill>
            <a:srgbClr val="02C39A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10149840" y="3694176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100%</a:t>
            </a:r>
          </a:p>
        </p:txBody>
      </p:sp>
      <p:sp>
        <p:nvSpPr>
          <p:cNvPr id="23" name="Text 21"/>
          <p:cNvSpPr txBox="1"/>
          <p:nvPr/>
        </p:nvSpPr>
        <p:spPr>
          <a:xfrm>
            <a:off x="1097280" y="4315968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Simulation Cockpit Bar</a:t>
            </a:r>
          </a:p>
        </p:txBody>
      </p:sp>
      <p:sp>
        <p:nvSpPr>
          <p:cNvPr id="24" name="Shape 22"/>
          <p:cNvSpPr/>
          <p:nvPr/>
        </p:nvSpPr>
        <p:spPr>
          <a:xfrm>
            <a:off x="4572000" y="4370832"/>
            <a:ext cx="5486400" cy="274320"/>
          </a:xfrm>
          <a:prstGeom prst="roundRect">
            <a:avLst>
              <a:gd name="adj" fmla="val 20000"/>
            </a:avLst>
          </a:prstGeom>
          <a:solidFill>
            <a:srgbClr val="F4FAF9"/>
          </a:solidFill>
          <a:ln w="9525">
            <a:solidFill>
              <a:srgbClr val="D7E7E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0" y="4370832"/>
            <a:ext cx="5486400" cy="274320"/>
          </a:xfrm>
          <a:prstGeom prst="roundRect">
            <a:avLst>
              <a:gd name="adj" fmla="val 20000"/>
            </a:avLst>
          </a:prstGeom>
          <a:solidFill>
            <a:srgbClr val="00A896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10149840" y="4315968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100%</a:t>
            </a:r>
          </a:p>
        </p:txBody>
      </p:sp>
      <p:sp>
        <p:nvSpPr>
          <p:cNvPr id="27" name="Text 25"/>
          <p:cNvSpPr txBox="1"/>
          <p:nvPr/>
        </p:nvSpPr>
        <p:spPr>
          <a:xfrm>
            <a:off x="1097280" y="493776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Overall Phase 1 Milestone Achieved</a:t>
            </a:r>
          </a:p>
        </p:txBody>
      </p:sp>
      <p:sp>
        <p:nvSpPr>
          <p:cNvPr id="28" name="Shape 26"/>
          <p:cNvSpPr/>
          <p:nvPr/>
        </p:nvSpPr>
        <p:spPr>
          <a:xfrm>
            <a:off x="4572000" y="4992624"/>
            <a:ext cx="5486400" cy="274320"/>
          </a:xfrm>
          <a:prstGeom prst="roundRect">
            <a:avLst>
              <a:gd name="adj" fmla="val 20000"/>
            </a:avLst>
          </a:prstGeom>
          <a:solidFill>
            <a:srgbClr val="F4FAF9"/>
          </a:solidFill>
          <a:ln w="9525">
            <a:solidFill>
              <a:srgbClr val="D7E7E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572000" y="4992624"/>
            <a:ext cx="3840479" cy="274320"/>
          </a:xfrm>
          <a:prstGeom prst="roundRect">
            <a:avLst>
              <a:gd name="adj" fmla="val 20000"/>
            </a:avLst>
          </a:prstGeom>
          <a:solidFill>
            <a:srgbClr val="00A896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10149840" y="4937760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70%</a:t>
            </a:r>
          </a:p>
        </p:txBody>
      </p:sp>
      <p:sp>
        <p:nvSpPr>
          <p:cNvPr id="31" name="Text 29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6245352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defRPr sz="1000" b="0">
                <a:solidFill>
                  <a:srgbClr val="7A8F8C"/>
                </a:solidFill>
                <a:latin typeface="Calibri"/>
              </a:defRPr>
            </a:pPr>
            <a:r>
              <a:rPr sz="1000" b="0">
                <a:solidFill>
                  <a:srgbClr val="7A8F8C"/>
                </a:solidFill>
                <a:latin typeface="Calibri"/>
              </a:rPr>
              <a:t>Review 1 &amp; 2  |  Equipment Health &amp; Maintenance Monitor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57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713232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 sz="1800" b="1">
                <a:solidFill>
                  <a:srgbClr val="1B2A2E"/>
                </a:solidFill>
                <a:latin typeface="Cambria"/>
              </a:defRPr>
            </a:pPr>
            <a:r>
              <a:rPr sz="1800" b="1">
                <a:solidFill>
                  <a:srgbClr val="1B2A2E"/>
                </a:solidFill>
                <a:latin typeface="Cambria"/>
              </a:rPr>
              <a:t>Visual Verification &amp; Execution Screenshots</a:t>
            </a:r>
          </a:p>
        </p:txBody>
      </p:sp>
      <p:sp>
        <p:nvSpPr>
          <p:cNvPr id="6" name="Shape 4"/>
          <p:cNvSpPr/>
          <p:nvPr/>
        </p:nvSpPr>
        <p:spPr>
          <a:xfrm>
            <a:off x="1097280" y="1371600"/>
            <a:ext cx="10607040" cy="0"/>
          </a:xfrm>
          <a:prstGeom prst="line">
            <a:avLst/>
          </a:prstGeom>
          <a:noFill/>
          <a:ln w="12700">
            <a:solidFill>
              <a:srgbClr val="D7E7E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97280" y="1737360"/>
            <a:ext cx="4846320" cy="1783080"/>
          </a:xfrm>
          <a:prstGeom prst="roundRect">
            <a:avLst>
              <a:gd name="adj" fmla="val 4103"/>
            </a:avLst>
          </a:prstGeom>
          <a:solidFill>
            <a:srgbClr val="F4FAF9"/>
          </a:solidFill>
          <a:ln w="15875">
            <a:solidFill>
              <a:srgbClr val="00A896"/>
            </a:solidFill>
            <a:prstDash val="dash"/>
          </a:ln>
        </p:spPr>
      </p:sp>
      <p:sp>
        <p:nvSpPr>
          <p:cNvPr id="8" name="Text 6"/>
          <p:cNvSpPr txBox="1"/>
          <p:nvPr/>
        </p:nvSpPr>
        <p:spPr>
          <a:xfrm>
            <a:off x="1097280" y="1737360"/>
            <a:ext cx="48463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17920" y="1737360"/>
            <a:ext cx="4846320" cy="1783080"/>
          </a:xfrm>
          <a:prstGeom prst="roundRect">
            <a:avLst>
              <a:gd name="adj" fmla="val 4103"/>
            </a:avLst>
          </a:prstGeom>
          <a:solidFill>
            <a:srgbClr val="F4FAF9"/>
          </a:solidFill>
          <a:ln w="15875">
            <a:solidFill>
              <a:srgbClr val="00A896"/>
            </a:solidFill>
            <a:prstDash val="dash"/>
          </a:ln>
        </p:spPr>
      </p:sp>
      <p:sp>
        <p:nvSpPr>
          <p:cNvPr id="10" name="Text 8"/>
          <p:cNvSpPr txBox="1"/>
          <p:nvPr/>
        </p:nvSpPr>
        <p:spPr>
          <a:xfrm>
            <a:off x="6217920" y="1737360"/>
            <a:ext cx="48463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97280" y="3794760"/>
            <a:ext cx="4846320" cy="1783080"/>
          </a:xfrm>
          <a:prstGeom prst="roundRect">
            <a:avLst>
              <a:gd name="adj" fmla="val 4103"/>
            </a:avLst>
          </a:prstGeom>
          <a:solidFill>
            <a:srgbClr val="F4FAF9"/>
          </a:solidFill>
          <a:ln w="15875">
            <a:solidFill>
              <a:srgbClr val="00A896"/>
            </a:solidFill>
            <a:prstDash val="dash"/>
          </a:ln>
        </p:spPr>
      </p:sp>
      <p:sp>
        <p:nvSpPr>
          <p:cNvPr id="12" name="Text 10"/>
          <p:cNvSpPr txBox="1"/>
          <p:nvPr/>
        </p:nvSpPr>
        <p:spPr>
          <a:xfrm>
            <a:off x="1097280" y="3794760"/>
            <a:ext cx="48463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217920" y="3794760"/>
            <a:ext cx="4846320" cy="1783080"/>
          </a:xfrm>
          <a:prstGeom prst="roundRect">
            <a:avLst>
              <a:gd name="adj" fmla="val 4103"/>
            </a:avLst>
          </a:prstGeom>
          <a:solidFill>
            <a:srgbClr val="F4FAF9"/>
          </a:solidFill>
          <a:ln w="15875">
            <a:solidFill>
              <a:srgbClr val="00A896"/>
            </a:solidFill>
            <a:prstDash val="dash"/>
          </a:ln>
        </p:spPr>
      </p:sp>
      <p:sp>
        <p:nvSpPr>
          <p:cNvPr id="14" name="Text 12"/>
          <p:cNvSpPr txBox="1"/>
          <p:nvPr/>
        </p:nvSpPr>
        <p:spPr>
          <a:xfrm>
            <a:off x="6217920" y="3794760"/>
            <a:ext cx="48463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Screenshots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6245352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defRPr sz="1000" b="0">
                <a:solidFill>
                  <a:srgbClr val="7A8F8C"/>
                </a:solidFill>
                <a:latin typeface="Calibri"/>
              </a:defRPr>
            </a:pPr>
            <a:r>
              <a:rPr sz="1000" b="0">
                <a:solidFill>
                  <a:srgbClr val="7A8F8C"/>
                </a:solidFill>
                <a:latin typeface="Calibri"/>
              </a:rPr>
              <a:t>Review 1 &amp; 2  |  Equipment Health &amp; Maintenance Monitor</a:t>
            </a:r>
          </a:p>
        </p:txBody>
      </p:sp>
      <p:pic>
        <p:nvPicPr>
          <p:cNvPr id="17" name="Picture 16" descr="predictive_over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1737360"/>
            <a:ext cx="4846320" cy="1783080"/>
          </a:xfrm>
          <a:prstGeom prst="rect">
            <a:avLst/>
          </a:prstGeom>
        </p:spPr>
      </p:pic>
      <p:pic>
        <p:nvPicPr>
          <p:cNvPr id="18" name="Picture 17" descr="predictive_spik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0" y="1737360"/>
            <a:ext cx="4846320" cy="1783080"/>
          </a:xfrm>
          <a:prstGeom prst="rect">
            <a:avLst/>
          </a:prstGeom>
        </p:spPr>
      </p:pic>
      <p:pic>
        <p:nvPicPr>
          <p:cNvPr id="19" name="Picture 18" descr="predictive_resolv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7280" y="3794760"/>
            <a:ext cx="4846320" cy="1783080"/>
          </a:xfrm>
          <a:prstGeom prst="rect">
            <a:avLst/>
          </a:prstGeom>
        </p:spPr>
      </p:pic>
      <p:pic>
        <p:nvPicPr>
          <p:cNvPr id="20" name="Picture 19" descr="predictive_repair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7920" y="3794760"/>
            <a:ext cx="4846320" cy="178308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57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713232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 sz="1800" b="1">
                <a:solidFill>
                  <a:srgbClr val="1B2A2E"/>
                </a:solidFill>
                <a:latin typeface="Cambria"/>
              </a:defRPr>
            </a:pPr>
            <a:r>
              <a:rPr sz="1800" b="1">
                <a:solidFill>
                  <a:srgbClr val="1B2A2E"/>
                </a:solidFill>
                <a:latin typeface="Cambria"/>
              </a:rPr>
              <a:t>Technical Challenges &amp; Adopted Solutions</a:t>
            </a:r>
          </a:p>
        </p:txBody>
      </p:sp>
      <p:sp>
        <p:nvSpPr>
          <p:cNvPr id="6" name="Shape 4"/>
          <p:cNvSpPr/>
          <p:nvPr/>
        </p:nvSpPr>
        <p:spPr>
          <a:xfrm>
            <a:off x="1097280" y="1371600"/>
            <a:ext cx="10607040" cy="0"/>
          </a:xfrm>
          <a:prstGeom prst="line">
            <a:avLst/>
          </a:prstGeom>
          <a:noFill/>
          <a:ln w="12700">
            <a:solidFill>
              <a:srgbClr val="D7E7E5"/>
            </a:solidFill>
            <a:prstDash val="solid"/>
          </a:ln>
        </p:spPr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97280" y="1691640"/>
          <a:ext cx="9966960" cy="2286000"/>
        </p:xfrm>
        <a:graphic>
          <a:graphicData uri="http://schemas.openxmlformats.org/drawingml/2006/table">
            <a:tbl>
              <a:tblPr/>
              <a:tblGrid>
                <a:gridCol w="457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94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Challenge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Solution Adopted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defRPr sz="850" b="0">
                          <a:solidFill>
                            <a:srgbClr val="1B2A2E"/>
                          </a:solidFill>
                          <a:latin typeface="Calibri"/>
                        </a:defRPr>
                      </a:pPr>
                      <a:r>
                        <a:rPr sz="850" b="0">
                          <a:solidFill>
                            <a:srgbClr val="1B2A2E"/>
                          </a:solidFill>
                          <a:latin typeface="Calibri"/>
                        </a:rPr>
                        <a:t>Playwright subagent 404 from Azure CDN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 b="0">
                          <a:solidFill>
                            <a:srgbClr val="1B2A2E"/>
                          </a:solidFill>
                          <a:latin typeface="Calibri"/>
                        </a:defRPr>
                      </a:pPr>
                      <a:r>
                        <a:rPr sz="850" b="0">
                          <a:solidFill>
                            <a:srgbClr val="1B2A2E"/>
                          </a:solidFill>
                          <a:latin typeface="Calibri"/>
                        </a:rPr>
                        <a:t>Configured Playwright Core to automate local native Windows Chrome directly at C:\Program Files\Google\Chrome\Application\chrome.exe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defRPr sz="850" b="0">
                          <a:solidFill>
                            <a:srgbClr val="1B2A2E"/>
                          </a:solidFill>
                          <a:latin typeface="Calibri"/>
                        </a:defRPr>
                      </a:pPr>
                      <a:r>
                        <a:rPr sz="850" b="0">
                          <a:solidFill>
                            <a:srgbClr val="1B2A2E"/>
                          </a:solidFill>
                          <a:latin typeface="Calibri"/>
                        </a:rPr>
                        <a:t>Flexbox parent compressed alert table to 165px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 b="0">
                          <a:solidFill>
                            <a:srgbClr val="1B2A2E"/>
                          </a:solidFill>
                          <a:latin typeface="Calibri"/>
                        </a:defRPr>
                      </a:pPr>
                      <a:r>
                        <a:rPr sz="850" b="0">
                          <a:solidFill>
                            <a:srgbClr val="1B2A2E"/>
                          </a:solidFill>
                          <a:latin typeface="Calibri"/>
                        </a:rPr>
                        <a:t>Added flex-shrink: 0 to .panel and styled alert table cells with vertical-align: middle and nowrap badges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defRPr sz="850" b="0">
                          <a:solidFill>
                            <a:srgbClr val="1B2A2E"/>
                          </a:solidFill>
                          <a:latin typeface="Calibri"/>
                        </a:defRPr>
                      </a:pPr>
                      <a:r>
                        <a:rPr sz="850" b="0">
                          <a:solidFill>
                            <a:srgbClr val="1B2A2E"/>
                          </a:solidFill>
                          <a:latin typeface="Calibri"/>
                        </a:rPr>
                        <a:t>Chart remained parked on nominal machine during fault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 b="0">
                          <a:solidFill>
                            <a:srgbClr val="1B2A2E"/>
                          </a:solidFill>
                          <a:latin typeface="Calibri"/>
                        </a:defRPr>
                      </a:pPr>
                      <a:r>
                        <a:rPr sz="850" b="0">
                          <a:solidFill>
                            <a:srgbClr val="1B2A2E"/>
                          </a:solidFill>
                          <a:latin typeface="Calibri"/>
                        </a:rPr>
                        <a:t>Implemented dynamic machine auto-focus that automatically snaps waveform to the spiking asset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defRPr sz="850" b="0">
                          <a:solidFill>
                            <a:srgbClr val="1B2A2E"/>
                          </a:solidFill>
                          <a:latin typeface="Calibri"/>
                        </a:defRPr>
                      </a:pPr>
                      <a:r>
                        <a:rPr sz="850" b="0">
                          <a:solidFill>
                            <a:srgbClr val="1B2A2E"/>
                          </a:solidFill>
                          <a:latin typeface="Calibri"/>
                        </a:rPr>
                        <a:t>Resolving alert left machine in degraded status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 b="0">
                          <a:solidFill>
                            <a:srgbClr val="1B2A2E"/>
                          </a:solidFill>
                          <a:latin typeface="Calibri"/>
                        </a:defRPr>
                      </a:pPr>
                      <a:r>
                        <a:rPr sz="850" b="0">
                          <a:solidFill>
                            <a:srgbClr val="1B2A2E"/>
                          </a:solidFill>
                          <a:latin typeface="Calibri"/>
                        </a:rPr>
                        <a:t>Built multi-alert integrity check restoring healthy baseline (1.8 mm/s, 96% health) upon clearing last alert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Text 5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6245352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defRPr sz="1000" b="0">
                <a:solidFill>
                  <a:srgbClr val="7A8F8C"/>
                </a:solidFill>
                <a:latin typeface="Calibri"/>
              </a:defRPr>
            </a:pPr>
            <a:r>
              <a:rPr sz="1000" b="0">
                <a:solidFill>
                  <a:srgbClr val="7A8F8C"/>
                </a:solidFill>
                <a:latin typeface="Calibri"/>
              </a:rPr>
              <a:t>Review 1 &amp; 2  |  Equipment Health &amp; Maintenance Monitor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57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713232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 sz="1800" b="1">
                <a:solidFill>
                  <a:srgbClr val="1B2A2E"/>
                </a:solidFill>
                <a:latin typeface="Cambria"/>
              </a:defRPr>
            </a:pPr>
            <a:r>
              <a:rPr sz="1800" b="1">
                <a:solidFill>
                  <a:srgbClr val="1B2A2E"/>
                </a:solidFill>
                <a:latin typeface="Cambria"/>
              </a:rPr>
              <a:t>Remaining Scope &amp; Phase 2 Roadmap (30%)</a:t>
            </a:r>
          </a:p>
        </p:txBody>
      </p:sp>
      <p:sp>
        <p:nvSpPr>
          <p:cNvPr id="6" name="Shape 4"/>
          <p:cNvSpPr/>
          <p:nvPr/>
        </p:nvSpPr>
        <p:spPr>
          <a:xfrm>
            <a:off x="1097280" y="1371600"/>
            <a:ext cx="10607040" cy="0"/>
          </a:xfrm>
          <a:prstGeom prst="line">
            <a:avLst/>
          </a:prstGeom>
          <a:noFill/>
          <a:ln w="12700">
            <a:solidFill>
              <a:srgbClr val="D7E7E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97280" y="1691640"/>
            <a:ext cx="987552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 algn="l">
              <a:spcAft>
                <a:spcPts val="400"/>
              </a:spcAft>
              <a:buSzPct val="100000"/>
              <a:buChar char="▪"/>
              <a:defRPr sz="1050" b="0">
                <a:solidFill>
                  <a:srgbClr val="1B2A2E"/>
                </a:solidFill>
                <a:latin typeface="Calibri"/>
              </a:defRPr>
            </a:pPr>
            <a:r>
              <a:rPr sz="1050" b="0">
                <a:solidFill>
                  <a:srgbClr val="1B2A2E"/>
                </a:solidFill>
                <a:latin typeface="Calibri"/>
              </a:rPr>
              <a:t>Continuous ML Retraining Pipeline: Connect a dedicated Python/FastAPI microservice for LSTM and Weibull survival models trained on run-to-failure vibration datasets.</a:t>
            </a:r>
            <a:endParaRPr lang="en-US" sz="1500" dirty="0"/>
          </a:p>
          <a:p>
            <a:pPr marL="342900" indent="-342900" algn="l">
              <a:spcAft>
                <a:spcPts val="400"/>
              </a:spcAft>
              <a:buSzPct val="100000"/>
              <a:buChar char="▪"/>
              <a:defRPr sz="1050" b="0">
                <a:solidFill>
                  <a:srgbClr val="1B2A2E"/>
                </a:solidFill>
                <a:latin typeface="Calibri"/>
              </a:defRPr>
            </a:pPr>
            <a:r>
              <a:rPr sz="1050" b="0">
                <a:solidFill>
                  <a:srgbClr val="1B2A2E"/>
                </a:solidFill>
                <a:latin typeface="Calibri"/>
              </a:rPr>
              <a:t>Enterprise CMMS / SAP PM Integration: Implement REST and webhook connectors to synchronize scheduled repairs with enterprise work orders in SAP or Maximo.</a:t>
            </a:r>
            <a:endParaRPr lang="en-US" sz="1500" dirty="0"/>
          </a:p>
          <a:p>
            <a:pPr marL="342900" indent="-342900" algn="l">
              <a:spcAft>
                <a:spcPts val="400"/>
              </a:spcAft>
              <a:buSzPct val="100000"/>
              <a:buChar char="▪"/>
              <a:defRPr sz="1050" b="0">
                <a:solidFill>
                  <a:srgbClr val="1B2A2E"/>
                </a:solidFill>
                <a:latin typeface="Calibri"/>
              </a:defRPr>
            </a:pPr>
            <a:r>
              <a:rPr sz="1050" b="0">
                <a:solidFill>
                  <a:srgbClr val="1B2A2E"/>
                </a:solidFill>
                <a:latin typeface="Calibri"/>
              </a:rPr>
              <a:t>Role-Based Access Control (RBAC): Differentiate access tiers between Plant Safety Officers, Reliability Engineers, and Field Maintenance Technicians.</a:t>
            </a:r>
            <a:endParaRPr lang="en-US" sz="1500" dirty="0"/>
          </a:p>
          <a:p>
            <a:pPr marL="342900" indent="-342900" algn="l">
              <a:spcAft>
                <a:spcPts val="400"/>
              </a:spcAft>
              <a:buSzPct val="100000"/>
              <a:buChar char="▪"/>
              <a:defRPr sz="1050" b="0">
                <a:solidFill>
                  <a:srgbClr val="1B2A2E"/>
                </a:solidFill>
                <a:latin typeface="Calibri"/>
              </a:defRPr>
            </a:pPr>
            <a:r>
              <a:rPr sz="1050" b="0">
                <a:solidFill>
                  <a:srgbClr val="1B2A2E"/>
                </a:solidFill>
                <a:latin typeface="Calibri"/>
              </a:rPr>
              <a:t>Physical IoT Sensor Ingestion: Deploy an MQTT broker and OPC-UA gateway to ingest raw streams from industrial vibration accelerometers.</a:t>
            </a:r>
            <a:endParaRPr lang="en-US" sz="1500" dirty="0"/>
          </a:p>
          <a:p>
            <a:pPr marL="342900" indent="-342900" algn="l">
              <a:spcAft>
                <a:spcPts val="400"/>
              </a:spcAft>
              <a:buSzPct val="100000"/>
              <a:buChar char="▪"/>
              <a:defRPr sz="1050" b="0">
                <a:solidFill>
                  <a:srgbClr val="1B2A2E"/>
                </a:solidFill>
                <a:latin typeface="Calibri"/>
              </a:defRPr>
            </a:pPr>
            <a:r>
              <a:rPr sz="1050" b="0">
                <a:solidFill>
                  <a:srgbClr val="1B2A2E"/>
                </a:solidFill>
                <a:latin typeface="Calibri"/>
              </a:rPr>
              <a:t>Multi-Tenant Cloud Deployment: Package Helm charts for AWS EKS / GCP Kubernetes with Prometheus &amp; Grafana telemetry monitoring.</a:t>
            </a:r>
            <a:endParaRPr lang="en-US" sz="1500" dirty="0"/>
          </a:p>
          <a:p>
            <a:pPr marL="342900" indent="-342900" algn="l">
              <a:spcAft>
                <a:spcPts val="400"/>
              </a:spcAft>
              <a:buSzPct val="100000"/>
              <a:buChar char="▪"/>
              <a:defRPr sz="1050" b="0">
                <a:solidFill>
                  <a:srgbClr val="1B2A2E"/>
                </a:solidFill>
                <a:latin typeface="Calibri"/>
              </a:defRPr>
            </a:pPr>
            <a:r>
              <a:rPr sz="1050" b="0">
                <a:solidFill>
                  <a:srgbClr val="1B2A2E"/>
                </a:solidFill>
                <a:latin typeface="Calibri"/>
              </a:rPr>
              <a:t>Comprehensive Final Documentation: Complete production operations manual and API reference handbook for final defense.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6245352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defRPr sz="1000" b="0">
                <a:solidFill>
                  <a:srgbClr val="7A8F8C"/>
                </a:solidFill>
                <a:latin typeface="Calibri"/>
              </a:defRPr>
            </a:pPr>
            <a:r>
              <a:rPr sz="1000" b="0">
                <a:solidFill>
                  <a:srgbClr val="7A8F8C"/>
                </a:solidFill>
                <a:latin typeface="Calibri"/>
              </a:rPr>
              <a:t>Review 1 &amp; 2  |  Equipment Health &amp; Maintenance Monitor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57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713232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 sz="1800" b="1">
                <a:solidFill>
                  <a:srgbClr val="1B2A2E"/>
                </a:solidFill>
                <a:latin typeface="Cambria"/>
              </a:defRPr>
            </a:pPr>
            <a:r>
              <a:rPr sz="1800" b="1">
                <a:solidFill>
                  <a:srgbClr val="1B2A2E"/>
                </a:solidFill>
                <a:latin typeface="Cambria"/>
              </a:rPr>
              <a:t>Standards, Specifications &amp; Literature References</a:t>
            </a:r>
          </a:p>
        </p:txBody>
      </p:sp>
      <p:sp>
        <p:nvSpPr>
          <p:cNvPr id="6" name="Shape 4"/>
          <p:cNvSpPr/>
          <p:nvPr/>
        </p:nvSpPr>
        <p:spPr>
          <a:xfrm>
            <a:off x="1097280" y="1371600"/>
            <a:ext cx="10607040" cy="0"/>
          </a:xfrm>
          <a:prstGeom prst="line">
            <a:avLst/>
          </a:prstGeom>
          <a:noFill/>
          <a:ln w="12700">
            <a:solidFill>
              <a:srgbClr val="D7E7E5"/>
            </a:solidFill>
            <a:prstDash val="solid"/>
          </a:ln>
        </p:spPr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97280" y="1691640"/>
          <a:ext cx="9966960" cy="2286000"/>
        </p:xfrm>
        <a:graphic>
          <a:graphicData uri="http://schemas.openxmlformats.org/drawingml/2006/table">
            <a:tbl>
              <a:tblPr/>
              <a:tblGrid>
                <a:gridCol w="731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35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Reference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B2A2E"/>
                          </a:solidFill>
                          <a:latin typeface="Calibri"/>
                        </a:defRPr>
                      </a:pPr>
                      <a:r>
                        <a:rPr sz="900" b="0">
                          <a:solidFill>
                            <a:srgbClr val="1B2A2E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B2A2E"/>
                          </a:solidFill>
                          <a:latin typeface="Calibri"/>
                        </a:defRPr>
                      </a:pPr>
                      <a:r>
                        <a:rPr sz="900" b="0">
                          <a:solidFill>
                            <a:srgbClr val="1B2A2E"/>
                          </a:solidFill>
                          <a:latin typeface="Calibri"/>
                        </a:rPr>
                        <a:t>ISO 10816 / ISO 20816: Mechanical vibration -- Evaluation of machine vibration by measurements on non-rotating parts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B2A2E"/>
                          </a:solidFill>
                          <a:latin typeface="Calibri"/>
                        </a:defRPr>
                      </a:pPr>
                      <a:r>
                        <a:rPr sz="900" b="0">
                          <a:solidFill>
                            <a:srgbClr val="1B2A2E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B2A2E"/>
                          </a:solidFill>
                          <a:latin typeface="Calibri"/>
                        </a:defRPr>
                      </a:pPr>
                      <a:r>
                        <a:rPr sz="900" b="0">
                          <a:solidFill>
                            <a:srgbClr val="1B2A2E"/>
                          </a:solidFill>
                          <a:latin typeface="Calibri"/>
                        </a:rPr>
                        <a:t>NASA Prognostics Center of Excellence: C-MAPSS Turbofan Degradation Run-to-Failure Dataset &amp; Wear Horizon Modeling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B2A2E"/>
                          </a:solidFill>
                          <a:latin typeface="Calibri"/>
                        </a:defRPr>
                      </a:pPr>
                      <a:r>
                        <a:rPr sz="900" b="0">
                          <a:solidFill>
                            <a:srgbClr val="1B2A2E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B2A2E"/>
                          </a:solidFill>
                          <a:latin typeface="Calibri"/>
                        </a:defRPr>
                      </a:pPr>
                      <a:r>
                        <a:rPr sz="900" b="0">
                          <a:solidFill>
                            <a:srgbClr val="1B2A2E"/>
                          </a:solidFill>
                          <a:latin typeface="Calibri"/>
                        </a:rPr>
                        <a:t>IEEE Transactions on Reliability: Accelerated Degradation Testing &amp; Weibull Survival Prognostics in Industry 4.0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B2A2E"/>
                          </a:solidFill>
                          <a:latin typeface="Calibri"/>
                        </a:defRPr>
                      </a:pPr>
                      <a:r>
                        <a:rPr sz="900" b="0">
                          <a:solidFill>
                            <a:srgbClr val="1B2A2E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B2A2E"/>
                          </a:solidFill>
                          <a:latin typeface="Calibri"/>
                        </a:defRPr>
                      </a:pPr>
                      <a:r>
                        <a:rPr sz="900" b="0">
                          <a:solidFill>
                            <a:srgbClr val="1B2A2E"/>
                          </a:solidFill>
                          <a:latin typeface="Calibri"/>
                        </a:rPr>
                        <a:t>Socket.io, React 18, Node.js, and MongoDB 6 Official Specifications &amp; Playwright Core Framework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Text 5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6245352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defRPr sz="1000" b="0">
                <a:solidFill>
                  <a:srgbClr val="7A8F8C"/>
                </a:solidFill>
                <a:latin typeface="Calibri"/>
              </a:defRPr>
            </a:pPr>
            <a:r>
              <a:rPr sz="1000" b="0">
                <a:solidFill>
                  <a:srgbClr val="7A8F8C"/>
                </a:solidFill>
                <a:latin typeface="Calibri"/>
              </a:rPr>
              <a:t>Review 1 &amp; 2  |  Equipment Health &amp; Maintenance Monitor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1161</Words>
  <Application>Microsoft Office PowerPoint</Application>
  <PresentationFormat>Widescreen</PresentationFormat>
  <Paragraphs>276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sai lakshmi</cp:lastModifiedBy>
  <cp:revision>2</cp:revision>
  <dcterms:created xsi:type="dcterms:W3CDTF">2026-09-22T17:17:28Z</dcterms:created>
  <dcterms:modified xsi:type="dcterms:W3CDTF">2026-09-28T03:29:44Z</dcterms:modified>
</cp:coreProperties>
</file>